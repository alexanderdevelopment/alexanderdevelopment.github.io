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df889428dd46a6" /><Relationship Type="http://schemas.openxmlformats.org/officeDocument/2006/relationships/extended-properties" Target="/docProps/app.xml" Id="R06e63dee6fe646c7" /><Relationship Type="http://schemas.openxmlformats.org/officeDocument/2006/relationships/officeDocument" Target="/ppt/presentation.xml" Id="Rc0cbf44153934ff2" /></Relationships>
</file>

<file path=ppt/presentation.xml><?xml version="1.0" encoding="utf-8"?>
<p:presentation xmlns:p="http://schemas.openxmlformats.org/presentationml/2006/main">
  <p:sldMasterIdLst>
    <p:sldMasterId xmlns:r="http://schemas.openxmlformats.org/officeDocument/2006/relationships" id="2147483648" r:id="R5a6ebd94386c49f4"/>
  </p:sldMasterIdLst>
  <p:notesMasterIdLst>
    <p:notesMasterId xmlns:r="http://schemas.openxmlformats.org/officeDocument/2006/relationships" r:id="Ra3686d0a2c44438a"/>
  </p:notesMasterIdLst>
  <p:sldIdLst>
    <p:sldId xmlns:r="http://schemas.openxmlformats.org/officeDocument/2006/relationships" id="256" r:id="Rfd9dc9c589884c7f"/>
    <p:sldId xmlns:r="http://schemas.openxmlformats.org/officeDocument/2006/relationships" id="257" r:id="R140e667a81234702"/>
    <p:sldId xmlns:r="http://schemas.openxmlformats.org/officeDocument/2006/relationships" id="258" r:id="R677866d871c14658"/>
    <p:sldId xmlns:r="http://schemas.openxmlformats.org/officeDocument/2006/relationships" id="259" r:id="R732fe80b65e6471c"/>
    <p:sldId xmlns:r="http://schemas.openxmlformats.org/officeDocument/2006/relationships" id="260" r:id="R48f5a3f747424559"/>
    <p:sldId xmlns:r="http://schemas.openxmlformats.org/officeDocument/2006/relationships" id="261" r:id="R1897256c73f446aa"/>
    <p:sldId xmlns:r="http://schemas.openxmlformats.org/officeDocument/2006/relationships" id="262" r:id="R209c11643ff1407b"/>
    <p:sldId xmlns:r="http://schemas.openxmlformats.org/officeDocument/2006/relationships" id="263" r:id="R79a96cf59ef844ce"/>
    <p:sldId xmlns:r="http://schemas.openxmlformats.org/officeDocument/2006/relationships" id="264" r:id="R4f257eb6365d43d3"/>
    <p:sldId xmlns:r="http://schemas.openxmlformats.org/officeDocument/2006/relationships" id="265" r:id="R559f079cf5564a2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a6ebd94386c49f4" /><Relationship Type="http://schemas.openxmlformats.org/officeDocument/2006/relationships/theme" Target="/ppt/theme/theme1.xml" Id="R6af15847eac549fa" /><Relationship Type="http://schemas.openxmlformats.org/officeDocument/2006/relationships/notesMaster" Target="/ppt/notesMasters/notesMaster1.xml" Id="Ra3686d0a2c44438a" /><Relationship Type="http://schemas.openxmlformats.org/officeDocument/2006/relationships/presProps" Target="/ppt/presProps.xml" Id="R0964a136d7854aa7" /><Relationship Type="http://schemas.openxmlformats.org/officeDocument/2006/relationships/viewProps" Target="/ppt/viewProps.xml" Id="R19c1d5638e23432d" /><Relationship Type="http://schemas.openxmlformats.org/officeDocument/2006/relationships/tableStyles" Target="/ppt/tableStyles.xml" Id="R943b47dccc824bc6" /><Relationship Type="http://schemas.openxmlformats.org/officeDocument/2006/relationships/slide" Target="/ppt/slides/slide1.xml" Id="Rfd9dc9c589884c7f" /><Relationship Type="http://schemas.openxmlformats.org/officeDocument/2006/relationships/slide" Target="/ppt/slides/slide2.xml" Id="R140e667a81234702" /><Relationship Type="http://schemas.openxmlformats.org/officeDocument/2006/relationships/slide" Target="/ppt/slides/slide3.xml" Id="R677866d871c14658" /><Relationship Type="http://schemas.openxmlformats.org/officeDocument/2006/relationships/slide" Target="/ppt/slides/slide4.xml" Id="R732fe80b65e6471c" /><Relationship Type="http://schemas.openxmlformats.org/officeDocument/2006/relationships/slide" Target="/ppt/slides/slide5.xml" Id="R48f5a3f747424559" /><Relationship Type="http://schemas.openxmlformats.org/officeDocument/2006/relationships/slide" Target="/ppt/slides/slide6.xml" Id="R1897256c73f446aa" /><Relationship Type="http://schemas.openxmlformats.org/officeDocument/2006/relationships/slide" Target="/ppt/slides/slide7.xml" Id="R209c11643ff1407b" /><Relationship Type="http://schemas.openxmlformats.org/officeDocument/2006/relationships/slide" Target="/ppt/slides/slide8.xml" Id="R79a96cf59ef844ce" /><Relationship Type="http://schemas.openxmlformats.org/officeDocument/2006/relationships/slide" Target="/ppt/slides/slide9.xml" Id="R4f257eb6365d43d3" /><Relationship Type="http://schemas.openxmlformats.org/officeDocument/2006/relationships/slide" Target="/ppt/slides/slide10.xml" Id="R559f079cf5564a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89f4c5506c547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a5baa6253d4627" /><Relationship Type="http://schemas.openxmlformats.org/officeDocument/2006/relationships/notesMaster" Target="/ppt/notesMasters/notesMaster1.xml" Id="Rb169f4c2da7f4f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1d638fe6fe484a" /><Relationship Type="http://schemas.openxmlformats.org/officeDocument/2006/relationships/notesMaster" Target="/ppt/notesMasters/notesMaster1.xml" Id="R8cf9a1d1a73648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4155a065d416c" /><Relationship Type="http://schemas.openxmlformats.org/officeDocument/2006/relationships/notesMaster" Target="/ppt/notesMasters/notesMaster1.xml" Id="R9dca900948ef4a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78ed2221a24441" /><Relationship Type="http://schemas.openxmlformats.org/officeDocument/2006/relationships/notesMaster" Target="/ppt/notesMasters/notesMaster1.xml" Id="R26a10b6c9b9646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f4439787974ac1" /><Relationship Type="http://schemas.openxmlformats.org/officeDocument/2006/relationships/notesMaster" Target="/ppt/notesMasters/notesMaster1.xml" Id="R8b62562448294e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0c220b3aec490e" /><Relationship Type="http://schemas.openxmlformats.org/officeDocument/2006/relationships/notesMaster" Target="/ppt/notesMasters/notesMaster1.xml" Id="R903fc3cb88c947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7fe6c044294707" /><Relationship Type="http://schemas.openxmlformats.org/officeDocument/2006/relationships/notesMaster" Target="/ppt/notesMasters/notesMaster1.xml" Id="Rbb75bfa53cb249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ec3d247c3b47b1" /><Relationship Type="http://schemas.openxmlformats.org/officeDocument/2006/relationships/notesMaster" Target="/ppt/notesMasters/notesMaster1.xml" Id="R49777b6528ba46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9ee3442cc24146" /><Relationship Type="http://schemas.openxmlformats.org/officeDocument/2006/relationships/notesMaster" Target="/ppt/notesMasters/notesMaster1.xml" Id="R435b9a6139dd44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e66da503ab4190" /><Relationship Type="http://schemas.openxmlformats.org/officeDocument/2006/relationships/notesMaster" Target="/ppt/notesMasters/notesMaster1.xml" Id="Ra150d67d6b4341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8d07668464457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5a4381ddc634169" /><Relationship Type="http://schemas.openxmlformats.org/officeDocument/2006/relationships/slideLayout" Target="/ppt/slideLayouts/slideLayout2.xml" Id="Rfcf1003cbc5a4a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f1003cbc5a4a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9eaed5393e9450d" /><Relationship Type="http://schemas.openxmlformats.org/officeDocument/2006/relationships/image" Target="/ppt/media/image.png" Id="Rce6b335cb629469f" /><Relationship Type="http://schemas.openxmlformats.org/officeDocument/2006/relationships/notesSlide" Target="/ppt/notesSlides/notesSlide1.xml" Id="R1f9881eb02d547b6" /></Relationships>
</file>

<file path=ppt/slides/_rels/slide2.xml.rels><?xml version='1.0' encoding='utf-8'?>
<Relationships xmlns="http://schemas.openxmlformats.org/package/2006/relationships"><Relationship Type="http://schemas.openxmlformats.org/officeDocument/2006/relationships/slideLayout" Target="/ppt/slideLayouts/slideLayout2.xml" Id="R080ece5d3131479e" /><Relationship Type="http://schemas.openxmlformats.org/officeDocument/2006/relationships/image" Target="/ppt/media/image2.png" Id="R12f0b064f4034e22" /><Relationship Type="http://schemas.openxmlformats.org/officeDocument/2006/relationships/notesSlide" Target="/ppt/notesSlides/notesSlide2.xml" Id="Rc58afbd9a5ba4a23" /><Relationship Type="http://schemas.openxmlformats.org/officeDocument/2006/relationships/image" Target="/ppt/media/image4.png" Id="rBgImage" /></Relationships>
</file>

<file path=ppt/slides/_rels/slide3.xml.rels><?xml version='1.0' encoding='utf-8'?>
<Relationships xmlns="http://schemas.openxmlformats.org/package/2006/relationships"><Relationship Type="http://schemas.openxmlformats.org/officeDocument/2006/relationships/slideLayout" Target="/ppt/slideLayouts/slideLayout2.xml" Id="R04399f2c39c749c4" /><Relationship Type="http://schemas.openxmlformats.org/officeDocument/2006/relationships/notesSlide" Target="/ppt/notesSlides/notesSlide3.xml" Id="R8267a35e759d4093" /><Relationship Type="http://schemas.openxmlformats.org/officeDocument/2006/relationships/image" Target="/ppt/media/image.png" Id="rBgImage" /></Relationships>
</file>

<file path=ppt/slides/_rels/slide4.xml.rels><?xml version='1.0' encoding='utf-8'?>
<Relationships xmlns="http://schemas.openxmlformats.org/package/2006/relationships"><Relationship Type="http://schemas.openxmlformats.org/officeDocument/2006/relationships/slideLayout" Target="/ppt/slideLayouts/slideLayout2.xml" Id="R353728afc1924467" /><Relationship Type="http://schemas.openxmlformats.org/officeDocument/2006/relationships/image" Target="/ppt/media/image3.png" Id="Rdbb946ebe65c4abf" /><Relationship Type="http://schemas.openxmlformats.org/officeDocument/2006/relationships/notesSlide" Target="/ppt/notesSlides/notesSlide4.xml" Id="R84145fae1a354802" /><Relationship Type="http://schemas.openxmlformats.org/officeDocument/2006/relationships/image" Target="/ppt/media/image4.png" Id="rBgImage" /></Relationships>
</file>

<file path=ppt/slides/_rels/slide5.xml.rels><?xml version='1.0' encoding='utf-8'?>
<Relationships xmlns="http://schemas.openxmlformats.org/package/2006/relationships"><Relationship Type="http://schemas.openxmlformats.org/officeDocument/2006/relationships/slideLayout" Target="/ppt/slideLayouts/slideLayout2.xml" Id="R081d1014e6984a9e" /><Relationship Type="http://schemas.openxmlformats.org/officeDocument/2006/relationships/notesSlide" Target="/ppt/notesSlides/notesSlide5.xml" Id="Rd618d7338f0f46ae" /><Relationship Type="http://schemas.openxmlformats.org/officeDocument/2006/relationships/image" Target="/ppt/media/image.png" Id="rBgImage" /></Relationships>
</file>

<file path=ppt/slides/_rels/slide6.xml.rels><?xml version='1.0' encoding='utf-8'?>
<Relationships xmlns="http://schemas.openxmlformats.org/package/2006/relationships"><Relationship Type="http://schemas.openxmlformats.org/officeDocument/2006/relationships/slideLayout" Target="/ppt/slideLayouts/slideLayout2.xml" Id="Rc5563e0cb5284fa6" /><Relationship Type="http://schemas.openxmlformats.org/officeDocument/2006/relationships/notesSlide" Target="/ppt/notesSlides/notesSlide6.xml" Id="Rcc4b5a1dbaba46f0" /><Relationship Type="http://schemas.openxmlformats.org/officeDocument/2006/relationships/image" Target="/ppt/media/image4.png" Id="rBgImage" /></Relationships>
</file>

<file path=ppt/slides/_rels/slide7.xml.rels><?xml version='1.0' encoding='utf-8'?>
<Relationships xmlns="http://schemas.openxmlformats.org/package/2006/relationships"><Relationship Type="http://schemas.openxmlformats.org/officeDocument/2006/relationships/slideLayout" Target="/ppt/slideLayouts/slideLayout2.xml" Id="R073e6e440cd246dd" /><Relationship Type="http://schemas.openxmlformats.org/officeDocument/2006/relationships/notesSlide" Target="/ppt/notesSlides/notesSlide7.xml" Id="Rf2798cbb57fb40b3" /><Relationship Type="http://schemas.openxmlformats.org/officeDocument/2006/relationships/image" Target="/ppt/media/image.png" Id="rBgImage" /></Relationships>
</file>

<file path=ppt/slides/_rels/slide8.xml.rels><?xml version='1.0' encoding='utf-8'?>
<Relationships xmlns="http://schemas.openxmlformats.org/package/2006/relationships"><Relationship Type="http://schemas.openxmlformats.org/officeDocument/2006/relationships/slideLayout" Target="/ppt/slideLayouts/slideLayout2.xml" Id="R17895f91baa94270" /><Relationship Type="http://schemas.openxmlformats.org/officeDocument/2006/relationships/notesSlide" Target="/ppt/notesSlides/notesSlide8.xml" Id="R2f43c6cba6bd400d" /><Relationship Type="http://schemas.openxmlformats.org/officeDocument/2006/relationships/image" Target="/ppt/media/image4.png" Id="rBgImage" /></Relationships>
</file>

<file path=ppt/slides/_rels/slide9.xml.rels><?xml version='1.0' encoding='utf-8'?>
<Relationships xmlns="http://schemas.openxmlformats.org/package/2006/relationships"><Relationship Type="http://schemas.openxmlformats.org/officeDocument/2006/relationships/slideLayout" Target="/ppt/slideLayouts/slideLayout2.xml" Id="R60ad7b5808cb4983" /><Relationship Type="http://schemas.openxmlformats.org/officeDocument/2006/relationships/notesSlide" Target="/ppt/notesSlides/notesSlide9.xml" Id="Rfe8be5522cb8413b" /><Relationship Type="http://schemas.openxmlformats.org/officeDocument/2006/relationships/image" Target="/ppt/media/image.png" Id="rBgImag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49635f681384594" /><Relationship Type="http://schemas.openxmlformats.org/officeDocument/2006/relationships/image" Target="/ppt/media/image4.png" Id="Rc160cd62cb17444c" /><Relationship Type="http://schemas.openxmlformats.org/officeDocument/2006/relationships/notesSlide" Target="/ppt/notesSlides/notesSlide10.xml" Id="R69034bd2ff92412c" /></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1" name=""/>
          <p:cNvPicPr>
            <a:picLocks noChangeAspect="1"/>
          </p:cNvPicPr>
          <p:nvPr/>
        </p:nvPicPr>
        <p:blipFill>
          <a:blip r:embed="Rce6b335cb629469f"/>
          <a:srcRect l="424" t="0" r="424" b="0"/>
          <a:stretch>
            <a:fillRect l="0" t="0" r="0" b="0"/>
          </a:stretch>
        </p:blipFill>
        <p:spPr>
          <a:xfrm>
            <a:off x="0" y="0"/>
            <a:ext cx="12192000" cy="6858000"/>
          </a:xfrm>
          <a:prstGeom prst="rect">
            <a:avLst/>
          </a:prstGeom>
        </p:spPr>
      </p:pic>
      <p:sp>
        <p:nvSpPr>
          <p:cNvPr id="2" name="">
            <a:extLst>
              <a:ext uri="{FF2B5EF4-FFF2-40B4-BE49-F238E27FC236}">
                <ns3:creationId id="{6577B942-C664-4E78-BBFE-42E35241DC8B}"/>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3" name="">
            <a:extLst>
              <a:ext uri="{FF2B5EF4-FFF2-40B4-BE49-F238E27FC236}">
                <ns3:creationId id="{10F06123-FC3E-48F6-9609-1E6DC20DDFFE}"/>
              </a:ext>
            </a:extLst>
          </p:cNvPr>
          <p:cNvSpPr>
            <a:spLocks noGrp="1"/>
          </p:cNvSpPr>
          <p:nvPr/>
        </p:nvSpPr>
        <p:spPr>
          <a:xfrm>
            <a:off x="0" y="0"/>
            <a:ext cx="12192000" cy="6858000"/>
          </a:xfrm>
          <a:prstGeom prst="rect">
            <a:avLst/>
          </a:prstGeom>
          <a:solidFill>
            <a:srgbClr val="102932">
              <a:alpha val="25098"/>
            </a:srgbClr>
          </a:solidFill>
          <a:ln w="0">
            <a:solidFill>
              <a:srgbClr val="000000">
                <a:alpha val="0"/>
              </a:srgbClr>
            </a:solidFill>
            <a:prstDash val="solid"/>
          </a:ln>
        </p:spPr>
      </p:sp>
      <p:sp>
        <p:nvSpPr>
          <p:cNvPr id="4" name="kicker-01-marker">
            <a:extLst>
              <a:ext uri="{FF2B5EF4-FFF2-40B4-BE49-F238E27FC236}">
                <ns3:creationId id="{CD0BF15F-B676-44ED-A5B5-2A314796C130}"/>
              </a:ext>
            </a:extLst>
          </p:cNvPr>
          <p:cNvSpPr>
            <a:spLocks noGrp="1"/>
          </p:cNvSpPr>
          <p:nvPr/>
        </p:nvSpPr>
        <p:spPr>
          <a:xfrm>
            <a:off x="552450" y="552450"/>
            <a:ext cx="76200" cy="76200"/>
          </a:xfrm>
          <a:prstGeom prst="rect">
            <a:avLst/>
          </a:prstGeom>
          <a:solidFill>
            <a:srgbClr val="E64232"/>
          </a:solidFill>
          <a:ln w="0">
            <a:solidFill>
              <a:srgbClr val="000000">
                <a:alpha val="0"/>
              </a:srgbClr>
            </a:solidFill>
            <a:prstDash val="solid"/>
          </a:ln>
        </p:spPr>
      </p:sp>
      <p:sp>
        <p:nvSpPr>
          <p:cNvPr id="5" name="kicker-01-label">
            <a:extLst>
              <a:ext uri="{FF2B5EF4-FFF2-40B4-BE49-F238E27FC236}">
                <ns3:creationId id="{011862D6-DF33-44EC-9B7A-1C5E34BB3283}"/>
              </a:ext>
            </a:extLst>
          </p:cNvPr>
          <p:cNvSpPr>
            <a:spLocks noGrp="1"/>
          </p:cNvSpPr>
          <p:nvPr/>
        </p:nvSpPr>
        <p:spPr>
          <a:xfrm>
            <a:off x="762000" y="4953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COVER</a:t>
            </a:r>
          </a:p>
        </p:txBody>
      </p:sp>
      <p:sp>
        <p:nvSpPr>
          <p:cNvPr id="6" name="">
            <a:extLst>
              <a:ext uri="{FF2B5EF4-FFF2-40B4-BE49-F238E27FC236}">
                <ns3:creationId id="{B12CBCA2-BE69-4ADE-9FE6-BC829308E0BF}"/>
              </a:ext>
            </a:extLst>
          </p:cNvPr>
          <p:cNvSpPr>
            <a:spLocks noGrp="1"/>
          </p:cNvSpPr>
          <p:nvPr/>
        </p:nvSpPr>
        <p:spPr>
          <a:xfrm>
            <a:off x="552450" y="1333500"/>
            <a:ext cx="4953000" cy="8191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4950" b="1">
                <a:solidFill>
                  <a:srgbClr val="F5FAF8"/>
                </a:solidFill>
                <a:latin typeface="Aptos Display"/>
                <a:ea typeface="Aptos Display"/>
                <a:cs typeface="Aptos Display"/>
              </a:defRPr>
            </a:pPr>
            <a:r>
              <a:rPr sz="4950" b="1">
                <a:solidFill>
                  <a:srgbClr val="F5FAF8"/>
                </a:solidFill>
                <a:latin typeface="Aptos Display"/>
                <a:ea typeface="Aptos Display"/>
                <a:cs typeface="Aptos Display"/>
              </a:rPr>
              <a:t>BERG</a:t>
            </a:r>
          </a:p>
        </p:txBody>
      </p:sp>
      <p:sp>
        <p:nvSpPr>
          <p:cNvPr id="7" name="">
            <a:extLst>
              <a:ext uri="{FF2B5EF4-FFF2-40B4-BE49-F238E27FC236}">
                <ns3:creationId id="{CC3F7618-2527-4E57-807E-40DAE08AAE02}"/>
              </a:ext>
            </a:extLst>
          </p:cNvPr>
          <p:cNvSpPr>
            <a:spLocks noGrp="1"/>
          </p:cNvSpPr>
          <p:nvPr/>
        </p:nvSpPr>
        <p:spPr>
          <a:xfrm>
            <a:off x="590550" y="2381250"/>
            <a:ext cx="61912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F5FAF8"/>
                </a:solidFill>
                <a:latin typeface="Aptos"/>
                <a:ea typeface="Aptos"/>
                <a:cs typeface="Aptos"/>
              </a:defRPr>
            </a:pPr>
            <a:r>
              <a:rPr sz="1215" b="0">
                <a:solidFill>
                  <a:srgbClr val="F5FAF8"/>
                </a:solidFill>
                <a:latin typeface="Aptos"/>
                <a:ea typeface="Aptos"/>
                <a:cs typeface="Aptos"/>
              </a:rPr>
              <a:t>A first-person co-op climbing adventure set on the Zugspitze. Players climb together on a shared mountain server, where route choice, weather, oxygen, cold, stamina and rope safety define the outcome of each expedition.</a:t>
            </a:r>
          </a:p>
        </p:txBody>
      </p:sp>
      <p:sp>
        <p:nvSpPr>
          <p:cNvPr id="8" name="">
            <a:extLst>
              <a:ext uri="{FF2B5EF4-FFF2-40B4-BE49-F238E27FC236}">
                <ns3:creationId id="{BE9F25F3-F92D-4DD7-9290-E9842827A71C}"/>
              </a:ext>
            </a:extLst>
          </p:cNvPr>
          <p:cNvSpPr>
            <a:spLocks noGrp="1"/>
          </p:cNvSpPr>
          <p:nvPr/>
        </p:nvSpPr>
        <p:spPr>
          <a:xfrm>
            <a:off x="609600" y="3543300"/>
            <a:ext cx="6191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B6C8C7"/>
                </a:solidFill>
                <a:latin typeface="Aptos"/>
                <a:ea typeface="Aptos"/>
                <a:cs typeface="Aptos"/>
              </a:defRPr>
            </a:pPr>
            <a:r>
              <a:rPr sz="900" b="0">
                <a:solidFill>
                  <a:srgbClr val="B6C8C7"/>
                </a:solidFill>
                <a:latin typeface="Aptos"/>
                <a:ea typeface="Aptos"/>
                <a:cs typeface="Aptos"/>
              </a:rPr>
              <a:t>Concept Development Deck for FFF Bayern High Concept 2.0</a:t>
            </a:r>
          </a:p>
        </p:txBody>
      </p:sp>
      <p:sp>
        <p:nvSpPr>
          <p:cNvPr id="9" name="">
            <a:extLst>
              <a:ext uri="{FF2B5EF4-FFF2-40B4-BE49-F238E27FC236}">
                <ns3:creationId id="{99B1C44A-9007-4372-BB96-17687248F4B7}"/>
              </a:ext>
            </a:extLst>
          </p:cNvPr>
          <p:cNvSpPr>
            <a:spLocks noGrp="1"/>
          </p:cNvSpPr>
          <p:nvPr/>
        </p:nvSpPr>
        <p:spPr>
          <a:xfrm>
            <a:off x="590550" y="4762500"/>
            <a:ext cx="1619250" cy="9525"/>
          </a:xfrm>
          <a:prstGeom prst="rect">
            <a:avLst/>
          </a:prstGeom>
          <a:solidFill>
            <a:srgbClr val="2A4550"/>
          </a:solidFill>
          <a:ln w="0">
            <a:solidFill>
              <a:srgbClr val="000000">
                <a:alpha val="0"/>
              </a:srgbClr>
            </a:solidFill>
            <a:prstDash val="solid"/>
          </a:ln>
        </p:spPr>
      </p:sp>
      <p:sp>
        <p:nvSpPr>
          <p:cNvPr id="10" name="">
            <a:extLst>
              <a:ext uri="{FF2B5EF4-FFF2-40B4-BE49-F238E27FC236}">
                <ns3:creationId id="{903A6EF7-8098-46FE-8D5E-F057CE6E0614}"/>
              </a:ext>
            </a:extLst>
          </p:cNvPr>
          <p:cNvSpPr>
            <a:spLocks noGrp="1"/>
          </p:cNvSpPr>
          <p:nvPr/>
        </p:nvSpPr>
        <p:spPr>
          <a:xfrm>
            <a:off x="590550" y="4914900"/>
            <a:ext cx="16192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BD3E6"/>
                </a:solidFill>
                <a:latin typeface="Aptos Display"/>
                <a:ea typeface="Aptos Display"/>
                <a:cs typeface="Aptos Display"/>
              </a:defRPr>
            </a:pPr>
            <a:r>
              <a:rPr sz="1725" b="1">
                <a:solidFill>
                  <a:srgbClr val="8BD3E6"/>
                </a:solidFill>
                <a:latin typeface="Aptos Display"/>
                <a:ea typeface="Aptos Display"/>
                <a:cs typeface="Aptos Display"/>
              </a:rPr>
              <a:t>PC</a:t>
            </a:r>
          </a:p>
        </p:txBody>
      </p:sp>
      <p:sp>
        <p:nvSpPr>
          <p:cNvPr id="11" name="">
            <a:extLst>
              <a:ext uri="{FF2B5EF4-FFF2-40B4-BE49-F238E27FC236}">
                <ns3:creationId id="{EAB035E3-3460-41BD-834F-70A3B47BB4D5}"/>
              </a:ext>
            </a:extLst>
          </p:cNvPr>
          <p:cNvSpPr>
            <a:spLocks noGrp="1"/>
          </p:cNvSpPr>
          <p:nvPr/>
        </p:nvSpPr>
        <p:spPr>
          <a:xfrm>
            <a:off x="590550" y="52578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PLATFORM</a:t>
            </a:r>
          </a:p>
        </p:txBody>
      </p:sp>
      <p:sp>
        <p:nvSpPr>
          <p:cNvPr id="12" name="">
            <a:extLst>
              <a:ext uri="{FF2B5EF4-FFF2-40B4-BE49-F238E27FC236}">
                <ns3:creationId id="{2A49F981-1BC4-49CD-AFCE-52C2141EC868}"/>
              </a:ext>
            </a:extLst>
          </p:cNvPr>
          <p:cNvSpPr>
            <a:spLocks noGrp="1"/>
          </p:cNvSpPr>
          <p:nvPr/>
        </p:nvSpPr>
        <p:spPr>
          <a:xfrm>
            <a:off x="590550" y="5438775"/>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PC</a:t>
            </a:r>
          </a:p>
        </p:txBody>
      </p:sp>
      <p:sp>
        <p:nvSpPr>
          <p:cNvPr id="13" name="">
            <a:extLst>
              <a:ext uri="{FF2B5EF4-FFF2-40B4-BE49-F238E27FC236}">
                <ns3:creationId id="{FAEC1A7D-9D40-4052-953E-F6AB85E53A23}"/>
              </a:ext>
            </a:extLst>
          </p:cNvPr>
          <p:cNvSpPr>
            <a:spLocks noGrp="1"/>
          </p:cNvSpPr>
          <p:nvPr/>
        </p:nvSpPr>
        <p:spPr>
          <a:xfrm>
            <a:off x="2571750" y="4762500"/>
            <a:ext cx="1790700" cy="9525"/>
          </a:xfrm>
          <a:prstGeom prst="rect">
            <a:avLst/>
          </a:prstGeom>
          <a:solidFill>
            <a:srgbClr val="2A4550"/>
          </a:solidFill>
          <a:ln w="0">
            <a:solidFill>
              <a:srgbClr val="000000">
                <a:alpha val="0"/>
              </a:srgbClr>
            </a:solidFill>
            <a:prstDash val="solid"/>
          </a:ln>
        </p:spPr>
      </p:sp>
      <p:sp>
        <p:nvSpPr>
          <p:cNvPr id="14" name="">
            <a:extLst>
              <a:ext uri="{FF2B5EF4-FFF2-40B4-BE49-F238E27FC236}">
                <ns3:creationId id="{EBEC7CA1-273F-4234-BC7E-C812B0EC25D7}"/>
              </a:ext>
            </a:extLst>
          </p:cNvPr>
          <p:cNvSpPr>
            <a:spLocks noGrp="1"/>
          </p:cNvSpPr>
          <p:nvPr/>
        </p:nvSpPr>
        <p:spPr>
          <a:xfrm>
            <a:off x="2571750" y="4914900"/>
            <a:ext cx="179070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ED17A"/>
                </a:solidFill>
                <a:latin typeface="Aptos Display"/>
                <a:ea typeface="Aptos Display"/>
                <a:cs typeface="Aptos Display"/>
              </a:defRPr>
            </a:pPr>
            <a:r>
              <a:rPr sz="1725" b="1">
                <a:solidFill>
                  <a:srgbClr val="8ED17A"/>
                </a:solidFill>
                <a:latin typeface="Aptos Display"/>
                <a:ea typeface="Aptos Display"/>
                <a:cs typeface="Aptos Display"/>
              </a:rPr>
              <a:t>12+</a:t>
            </a:r>
          </a:p>
        </p:txBody>
      </p:sp>
      <p:sp>
        <p:nvSpPr>
          <p:cNvPr id="15" name="">
            <a:extLst>
              <a:ext uri="{FF2B5EF4-FFF2-40B4-BE49-F238E27FC236}">
                <ns3:creationId id="{32ECBBA3-5F0B-498A-83F9-D21D0217FEAD}"/>
              </a:ext>
            </a:extLst>
          </p:cNvPr>
          <p:cNvSpPr>
            <a:spLocks noGrp="1"/>
          </p:cNvSpPr>
          <p:nvPr/>
        </p:nvSpPr>
        <p:spPr>
          <a:xfrm>
            <a:off x="2571750" y="5257800"/>
            <a:ext cx="1790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AUDIENCE</a:t>
            </a:r>
          </a:p>
        </p:txBody>
      </p:sp>
      <p:sp>
        <p:nvSpPr>
          <p:cNvPr id="16" name="">
            <a:extLst>
              <a:ext uri="{FF2B5EF4-FFF2-40B4-BE49-F238E27FC236}">
                <ns3:creationId id="{C2D7C436-F5E0-4621-B50D-354CBA21EFCA}"/>
              </a:ext>
            </a:extLst>
          </p:cNvPr>
          <p:cNvSpPr>
            <a:spLocks noGrp="1"/>
          </p:cNvSpPr>
          <p:nvPr/>
        </p:nvSpPr>
        <p:spPr>
          <a:xfrm>
            <a:off x="2571750" y="5438775"/>
            <a:ext cx="1790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casual co-op players</a:t>
            </a:r>
          </a:p>
        </p:txBody>
      </p:sp>
      <p:sp>
        <p:nvSpPr>
          <p:cNvPr id="17" name="">
            <a:extLst>
              <a:ext uri="{FF2B5EF4-FFF2-40B4-BE49-F238E27FC236}">
                <ns3:creationId id="{AA57FDF3-0321-4AC5-9018-2497236AC502}"/>
              </a:ext>
            </a:extLst>
          </p:cNvPr>
          <p:cNvSpPr>
            <a:spLocks noGrp="1"/>
          </p:cNvSpPr>
          <p:nvPr/>
        </p:nvSpPr>
        <p:spPr>
          <a:xfrm>
            <a:off x="4724400" y="4762500"/>
            <a:ext cx="2571750" cy="9525"/>
          </a:xfrm>
          <a:prstGeom prst="rect">
            <a:avLst/>
          </a:prstGeom>
          <a:solidFill>
            <a:srgbClr val="2A4550"/>
          </a:solidFill>
          <a:ln w="0">
            <a:solidFill>
              <a:srgbClr val="000000">
                <a:alpha val="0"/>
              </a:srgbClr>
            </a:solidFill>
            <a:prstDash val="solid"/>
          </a:ln>
        </p:spPr>
      </p:sp>
      <p:sp>
        <p:nvSpPr>
          <p:cNvPr id="21" name="">
            <a:extLst>
              <a:ext uri="{FF2B5EF4-FFF2-40B4-BE49-F238E27FC236}">
                <ns3:creationId id="{2B2F011C-066A-4BEA-8744-13EC8E3F2410}"/>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22" name="">
            <a:extLst>
              <a:ext uri="{FF2B5EF4-FFF2-40B4-BE49-F238E27FC236}">
                <ns3:creationId id="{9A36473C-2691-4CA6-A7D3-2350E54F9211}"/>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01</a:t>
            </a:r>
          </a:p>
        </p:txBody>
      </p:sp>
    </p:spTree>
    <p:extLst>
      <p:ext uri="{BB962C8B-B14F-4D97-AF65-F5344CB8AC3E}">
        <ns4:creationId val="1977310451"/>
      </p:ext>
    </p:extLst>
  </p:cSld>
</p:sld>
</file>

<file path=ppt/slides/slide2.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9" name="Berg alternating background 2"/>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B50EB750-788A-4C1A-B206-F231C87372D3}"/>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2-marker">
            <a:extLst>
              <a:ext uri="{FF2B5EF4-FFF2-40B4-BE49-F238E27FC236}">
                <ns3:creationId id="{33D35C9E-CDEC-4F49-BA4C-3B7746360BFD}"/>
              </a:ext>
            </a:extLst>
          </p:cNvPr>
          <p:cNvSpPr>
            <a:spLocks noGrp="1"/>
          </p:cNvSpPr>
          <p:nvPr/>
        </p:nvSpPr>
        <p:spPr>
          <a:xfrm>
            <a:off x="552450" y="514350"/>
            <a:ext cx="76200" cy="76200"/>
          </a:xfrm>
          <a:prstGeom prst="rect">
            <a:avLst/>
          </a:prstGeom>
          <a:solidFill>
            <a:srgbClr val="8ED17A"/>
          </a:solidFill>
          <a:ln w="0">
            <a:solidFill>
              <a:srgbClr val="000000">
                <a:alpha val="0"/>
              </a:srgbClr>
            </a:solidFill>
            <a:prstDash val="solid"/>
          </a:ln>
        </p:spPr>
      </p:sp>
      <p:sp>
        <p:nvSpPr>
          <p:cNvPr id="3" name="kicker-02-label">
            <a:extLst>
              <a:ext uri="{FF2B5EF4-FFF2-40B4-BE49-F238E27FC236}">
                <ns3:creationId id="{25AA3271-94D4-4886-AEC6-549BC4B50586}"/>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ELEVATOR PITCH</a:t>
            </a:r>
          </a:p>
        </p:txBody>
      </p:sp>
      <p:sp>
        <p:nvSpPr>
          <p:cNvPr id="4" name="">
            <a:extLst>
              <a:ext uri="{FF2B5EF4-FFF2-40B4-BE49-F238E27FC236}">
                <ns3:creationId id="{4601555C-B193-4A1E-9517-9110CB8AF545}"/>
              </a:ext>
            </a:extLst>
          </p:cNvPr>
          <p:cNvSpPr>
            <a:spLocks noGrp="1"/>
          </p:cNvSpPr>
          <p:nvPr/>
        </p:nvSpPr>
        <p:spPr>
          <a:xfrm>
            <a:off x="552450" y="1009650"/>
            <a:ext cx="6191250" cy="9144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700" b="1">
                <a:solidFill>
                  <a:srgbClr val="F5FAF8"/>
                </a:solidFill>
                <a:latin typeface="Aptos Display"/>
                <a:ea typeface="Aptos Display"/>
                <a:cs typeface="Aptos Display"/>
              </a:defRPr>
            </a:pPr>
            <a:r>
              <a:rPr sz="2700" b="1">
                <a:solidFill>
                  <a:srgbClr val="F5FAF8"/>
                </a:solidFill>
                <a:latin typeface="Aptos Display"/>
                <a:ea typeface="Aptos Display"/>
                <a:cs typeface="Aptos Display"/>
              </a:rPr>
              <a:t>A grounded co-op climbing adventure set on the Zugspitze.</a:t>
            </a:r>
          </a:p>
        </p:txBody>
      </p:sp>
      <p:sp>
        <p:nvSpPr>
          <p:cNvPr id="5" name="">
            <a:extLst>
              <a:ext uri="{FF2B5EF4-FFF2-40B4-BE49-F238E27FC236}">
                <ns3:creationId id="{52B2D49A-C573-4B0A-93E3-B51FA1158822}"/>
              </a:ext>
            </a:extLst>
          </p:cNvPr>
          <p:cNvSpPr>
            <a:spLocks noGrp="1"/>
          </p:cNvSpPr>
          <p:nvPr/>
        </p:nvSpPr>
        <p:spPr>
          <a:xfrm>
            <a:off x="590550" y="2133600"/>
            <a:ext cx="619125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5" b="0">
                <a:solidFill>
                  <a:srgbClr val="B6C8C7"/>
                </a:solidFill>
                <a:latin typeface="Aptos"/>
                <a:ea typeface="Aptos"/>
                <a:cs typeface="Aptos"/>
              </a:defRPr>
            </a:pPr>
            <a:r>
              <a:rPr sz="1005" b="0">
                <a:solidFill>
                  <a:srgbClr val="B6C8C7"/>
                </a:solidFill>
                <a:latin typeface="Aptos"/>
                <a:ea typeface="Aptos"/>
                <a:cs typeface="Aptos"/>
              </a:rPr>
              <a:t>BERG is a first-person co-op game about reaching the summit in modern alpine conditions. Players start at the base of the mountain, choose routes, deliver supplies, complete tasks and climb upward while overcoming environmental obstacles.</a:t>
            </a:r>
          </a:p>
        </p:txBody>
      </p:sp>
      <p:sp>
        <p:nvSpPr>
          <p:cNvPr id="6" name="">
            <a:extLst>
              <a:ext uri="{FF2B5EF4-FFF2-40B4-BE49-F238E27FC236}">
                <ns3:creationId id="{1EA68140-7A4A-49C4-81AF-4988908A783D}"/>
              </a:ext>
            </a:extLst>
          </p:cNvPr>
          <p:cNvSpPr>
            <a:spLocks noGrp="1"/>
          </p:cNvSpPr>
          <p:nvPr/>
        </p:nvSpPr>
        <p:spPr>
          <a:xfrm>
            <a:off x="590550" y="3067050"/>
            <a:ext cx="619125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5" b="0">
                <a:solidFill>
                  <a:srgbClr val="F5FAF8"/>
                </a:solidFill>
                <a:latin typeface="Aptos"/>
                <a:ea typeface="Aptos"/>
                <a:cs typeface="Aptos"/>
              </a:defRPr>
            </a:pPr>
            <a:r>
              <a:rPr sz="1005" b="0">
                <a:solidFill>
                  <a:srgbClr val="F5FAF8"/>
                </a:solidFill>
                <a:latin typeface="Aptos"/>
                <a:ea typeface="Aptos"/>
                <a:cs typeface="Aptos"/>
              </a:rPr>
              <a:t>The core interaction is simple and readable: control each hand, manage grip, secure the rope, monitor oxygen and keep moving. Depth comes from route choice, weather pressure, oxygen management, cold exposure and the presence of other players on the same mountain.</a:t>
            </a:r>
          </a:p>
        </p:txBody>
      </p:sp>
      <p:sp>
        <p:nvSpPr>
          <p:cNvPr id="7" name="">
            <a:extLst>
              <a:ext uri="{FF2B5EF4-FFF2-40B4-BE49-F238E27FC236}">
                <ns3:creationId id="{AAA2051A-E53C-4BFC-BA6D-6CC5B4C27B2A}"/>
              </a:ext>
            </a:extLst>
          </p:cNvPr>
          <p:cNvSpPr>
            <a:spLocks noGrp="1"/>
          </p:cNvSpPr>
          <p:nvPr/>
        </p:nvSpPr>
        <p:spPr>
          <a:xfrm>
            <a:off x="590550" y="4324350"/>
            <a:ext cx="3524250" cy="1104900"/>
          </a:xfrm>
          <a:prstGeom prst="rect">
            <a:avLst/>
          </a:prstGeom>
          <a:solidFill>
            <a:srgbClr val="0B2027"/>
          </a:solidFill>
          <a:ln w="9525">
            <a:solidFill>
              <a:srgbClr val="2D4A53"/>
            </a:solidFill>
            <a:prstDash val="solid"/>
          </a:ln>
        </p:spPr>
      </p:sp>
      <p:sp>
        <p:nvSpPr>
          <p:cNvPr id="8" name="">
            <a:extLst>
              <a:ext uri="{FF2B5EF4-FFF2-40B4-BE49-F238E27FC236}">
                <ns3:creationId id="{3C945417-35B1-4EE5-AE50-D39C54288542}"/>
              </a:ext>
            </a:extLst>
          </p:cNvPr>
          <p:cNvSpPr>
            <a:spLocks noGrp="1"/>
          </p:cNvSpPr>
          <p:nvPr/>
        </p:nvSpPr>
        <p:spPr>
          <a:xfrm>
            <a:off x="781050" y="4533900"/>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F5FAF8"/>
                </a:solidFill>
                <a:latin typeface="Aptos"/>
                <a:ea typeface="Aptos"/>
                <a:cs typeface="Aptos"/>
              </a:defRPr>
            </a:pPr>
            <a:r>
              <a:rPr sz="900" b="0">
                <a:solidFill>
                  <a:srgbClr val="F5FAF8"/>
                </a:solidFill>
                <a:latin typeface="Aptos"/>
                <a:ea typeface="Aptos"/>
                <a:cs typeface="Aptos"/>
              </a:rPr>
              <a:t>Key points</a:t>
            </a:r>
          </a:p>
        </p:txBody>
      </p:sp>
      <p:sp>
        <p:nvSpPr>
          <p:cNvPr id="9" name="">
            <a:extLst>
              <a:ext uri="{FF2B5EF4-FFF2-40B4-BE49-F238E27FC236}">
                <ns3:creationId id="{3568C152-4A8D-40D0-A220-3B4D8B55DD7D}"/>
              </a:ext>
            </a:extLst>
          </p:cNvPr>
          <p:cNvSpPr>
            <a:spLocks noGrp="1"/>
          </p:cNvSpPr>
          <p:nvPr/>
        </p:nvSpPr>
        <p:spPr>
          <a:xfrm>
            <a:off x="781050" y="4886325"/>
            <a:ext cx="47625" cy="47625"/>
          </a:xfrm>
          <a:prstGeom prst="rect">
            <a:avLst/>
          </a:prstGeom>
          <a:solidFill>
            <a:srgbClr val="8ED17A"/>
          </a:solidFill>
          <a:ln w="0">
            <a:solidFill>
              <a:srgbClr val="000000">
                <a:alpha val="0"/>
              </a:srgbClr>
            </a:solidFill>
            <a:prstDash val="solid"/>
          </a:ln>
        </p:spPr>
      </p:sp>
      <p:sp>
        <p:nvSpPr>
          <p:cNvPr id="10" name="">
            <a:extLst>
              <a:ext uri="{FF2B5EF4-FFF2-40B4-BE49-F238E27FC236}">
                <ns3:creationId id="{375CC444-2DC6-4AB2-81EA-9119F6088F63}"/>
              </a:ext>
            </a:extLst>
          </p:cNvPr>
          <p:cNvSpPr>
            <a:spLocks noGrp="1"/>
          </p:cNvSpPr>
          <p:nvPr/>
        </p:nvSpPr>
        <p:spPr>
          <a:xfrm>
            <a:off x="933450" y="4819650"/>
            <a:ext cx="28956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F5FAF8"/>
                </a:solidFill>
                <a:latin typeface="Aptos"/>
                <a:ea typeface="Aptos"/>
                <a:cs typeface="Aptos"/>
              </a:defRPr>
            </a:pPr>
            <a:r>
              <a:rPr sz="810" b="0">
                <a:solidFill>
                  <a:srgbClr val="F5FAF8"/>
                </a:solidFill>
                <a:latin typeface="Aptos"/>
                <a:ea typeface="Aptos"/>
                <a:cs typeface="Aptos"/>
              </a:rPr>
              <a:t>Zugspitze setting</a:t>
            </a:r>
          </a:p>
        </p:txBody>
      </p:sp>
      <p:sp>
        <p:nvSpPr>
          <p:cNvPr id="11" name="">
            <a:extLst>
              <a:ext uri="{FF2B5EF4-FFF2-40B4-BE49-F238E27FC236}">
                <ns3:creationId id="{182A6E21-A589-4A2C-9D93-2CD82A055881}"/>
              </a:ext>
            </a:extLst>
          </p:cNvPr>
          <p:cNvSpPr>
            <a:spLocks noGrp="1"/>
          </p:cNvSpPr>
          <p:nvPr/>
        </p:nvSpPr>
        <p:spPr>
          <a:xfrm>
            <a:off x="781050" y="5114925"/>
            <a:ext cx="47625" cy="47625"/>
          </a:xfrm>
          <a:prstGeom prst="rect">
            <a:avLst/>
          </a:prstGeom>
          <a:solidFill>
            <a:srgbClr val="8ED17A"/>
          </a:solidFill>
          <a:ln w="0">
            <a:solidFill>
              <a:srgbClr val="000000">
                <a:alpha val="0"/>
              </a:srgbClr>
            </a:solidFill>
            <a:prstDash val="solid"/>
          </a:ln>
        </p:spPr>
      </p:sp>
      <p:sp>
        <p:nvSpPr>
          <p:cNvPr id="12" name="">
            <a:extLst>
              <a:ext uri="{FF2B5EF4-FFF2-40B4-BE49-F238E27FC236}">
                <ns3:creationId id="{B42F41CA-88BD-4DC7-B770-404DA3AE8F2C}"/>
              </a:ext>
            </a:extLst>
          </p:cNvPr>
          <p:cNvSpPr>
            <a:spLocks noGrp="1"/>
          </p:cNvSpPr>
          <p:nvPr/>
        </p:nvSpPr>
        <p:spPr>
          <a:xfrm>
            <a:off x="933450" y="5048250"/>
            <a:ext cx="28956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F5FAF8"/>
                </a:solidFill>
                <a:latin typeface="Aptos"/>
                <a:ea typeface="Aptos"/>
                <a:cs typeface="Aptos"/>
              </a:defRPr>
            </a:pPr>
            <a:r>
              <a:rPr sz="810" b="0">
                <a:solidFill>
                  <a:srgbClr val="F5FAF8"/>
                </a:solidFill>
                <a:latin typeface="Aptos"/>
                <a:ea typeface="Aptos"/>
                <a:cs typeface="Aptos"/>
              </a:rPr>
              <a:t>Friends-first co-op</a:t>
            </a:r>
          </a:p>
        </p:txBody>
      </p:sp>
      <p:sp>
        <p:nvSpPr>
          <p:cNvPr id="13" name="">
            <a:extLst>
              <a:ext uri="{FF2B5EF4-FFF2-40B4-BE49-F238E27FC236}">
                <ns3:creationId id="{FE2C8CAD-199A-4CEE-902E-2B18702DF691}"/>
              </a:ext>
            </a:extLst>
          </p:cNvPr>
          <p:cNvSpPr>
            <a:spLocks noGrp="1"/>
          </p:cNvSpPr>
          <p:nvPr/>
        </p:nvSpPr>
        <p:spPr>
          <a:xfrm>
            <a:off x="781050" y="5343525"/>
            <a:ext cx="47625" cy="47625"/>
          </a:xfrm>
          <a:prstGeom prst="rect">
            <a:avLst/>
          </a:prstGeom>
          <a:solidFill>
            <a:srgbClr val="8ED17A"/>
          </a:solidFill>
          <a:ln w="0">
            <a:solidFill>
              <a:srgbClr val="000000">
                <a:alpha val="0"/>
              </a:srgbClr>
            </a:solidFill>
            <a:prstDash val="solid"/>
          </a:ln>
        </p:spPr>
      </p:sp>
      <p:sp>
        <p:nvSpPr>
          <p:cNvPr id="14" name="">
            <a:extLst>
              <a:ext uri="{FF2B5EF4-FFF2-40B4-BE49-F238E27FC236}">
                <ns3:creationId id="{FA044021-736A-4CF5-9995-F6AC35678B6A}"/>
              </a:ext>
            </a:extLst>
          </p:cNvPr>
          <p:cNvSpPr>
            <a:spLocks noGrp="1"/>
          </p:cNvSpPr>
          <p:nvPr/>
        </p:nvSpPr>
        <p:spPr>
          <a:xfrm>
            <a:off x="933450" y="5276850"/>
            <a:ext cx="28956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F5FAF8"/>
                </a:solidFill>
                <a:latin typeface="Aptos"/>
                <a:ea typeface="Aptos"/>
                <a:cs typeface="Aptos"/>
              </a:defRPr>
            </a:pPr>
            <a:r>
              <a:rPr sz="810" b="0">
                <a:solidFill>
                  <a:srgbClr val="F5FAF8"/>
                </a:solidFill>
                <a:latin typeface="Aptos"/>
                <a:ea typeface="Aptos"/>
                <a:cs typeface="Aptos"/>
              </a:rPr>
              <a:t>Readable alpine pressure</a:t>
            </a:r>
          </a:p>
        </p:txBody>
      </p:sp>
      <p:sp>
        <p:nvSpPr>
          <p:cNvPr id="15" name="">
            <a:extLst>
              <a:ext uri="{FF2B5EF4-FFF2-40B4-BE49-F238E27FC236}">
                <ns3:creationId id="{E834A269-FAFD-4B08-B787-0E02EA86ED23}"/>
              </a:ext>
            </a:extLst>
          </p:cNvPr>
          <p:cNvSpPr>
            <a:spLocks noGrp="1"/>
          </p:cNvSpPr>
          <p:nvPr/>
        </p:nvSpPr>
        <p:spPr>
          <a:xfrm>
            <a:off x="4495800" y="4419600"/>
            <a:ext cx="1428750" cy="9525"/>
          </a:xfrm>
          <a:prstGeom prst="rect">
            <a:avLst/>
          </a:prstGeom>
          <a:solidFill>
            <a:srgbClr val="2A4550"/>
          </a:solidFill>
          <a:ln w="0">
            <a:solidFill>
              <a:srgbClr val="000000">
                <a:alpha val="0"/>
              </a:srgbClr>
            </a:solidFill>
            <a:prstDash val="solid"/>
          </a:ln>
        </p:spPr>
      </p:sp>
      <p:sp>
        <p:nvSpPr>
          <p:cNvPr id="16" name="">
            <a:extLst>
              <a:ext uri="{FF2B5EF4-FFF2-40B4-BE49-F238E27FC236}">
                <ns3:creationId id="{A387DDC5-977D-4652-8A40-CFEB2CDAF36D}"/>
              </a:ext>
            </a:extLst>
          </p:cNvPr>
          <p:cNvSpPr>
            <a:spLocks noGrp="1"/>
          </p:cNvSpPr>
          <p:nvPr/>
        </p:nvSpPr>
        <p:spPr>
          <a:xfrm>
            <a:off x="4495800" y="4572000"/>
            <a:ext cx="14287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ED17A"/>
                </a:solidFill>
                <a:latin typeface="Aptos Display"/>
                <a:ea typeface="Aptos Display"/>
                <a:cs typeface="Aptos Display"/>
              </a:defRPr>
            </a:pPr>
            <a:r>
              <a:rPr sz="1725" b="1">
                <a:solidFill>
                  <a:srgbClr val="8ED17A"/>
                </a:solidFill>
                <a:latin typeface="Aptos Display"/>
                <a:ea typeface="Aptos Display"/>
                <a:cs typeface="Aptos Display"/>
              </a:rPr>
              <a:t>USK 6/12</a:t>
            </a:r>
          </a:p>
        </p:txBody>
      </p:sp>
      <p:sp>
        <p:nvSpPr>
          <p:cNvPr id="17" name="">
            <a:extLst>
              <a:ext uri="{FF2B5EF4-FFF2-40B4-BE49-F238E27FC236}">
                <ns3:creationId id="{5A18E24F-00CF-4DE0-87AD-A231CF13816B}"/>
              </a:ext>
            </a:extLst>
          </p:cNvPr>
          <p:cNvSpPr>
            <a:spLocks noGrp="1"/>
          </p:cNvSpPr>
          <p:nvPr/>
        </p:nvSpPr>
        <p:spPr>
          <a:xfrm>
            <a:off x="4495800" y="491490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TARGET RATING</a:t>
            </a:r>
          </a:p>
        </p:txBody>
      </p:sp>
      <p:sp>
        <p:nvSpPr>
          <p:cNvPr id="18" name="">
            <a:extLst>
              <a:ext uri="{FF2B5EF4-FFF2-40B4-BE49-F238E27FC236}">
                <ns3:creationId id="{240EEF02-B542-4844-95C8-9711D0D5B14D}"/>
              </a:ext>
            </a:extLst>
          </p:cNvPr>
          <p:cNvSpPr>
            <a:spLocks noGrp="1"/>
          </p:cNvSpPr>
          <p:nvPr/>
        </p:nvSpPr>
        <p:spPr>
          <a:xfrm>
            <a:off x="4495800" y="5095875"/>
            <a:ext cx="1428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USK 6/12</a:t>
            </a:r>
          </a:p>
        </p:txBody>
      </p:sp>
      <p:sp>
        <p:nvSpPr>
          <p:cNvPr id="19" name="">
            <a:extLst>
              <a:ext uri="{FF2B5EF4-FFF2-40B4-BE49-F238E27FC236}">
                <ns3:creationId id="{0DAD1E5A-5F34-475F-B019-CEFF5DDB5CB8}"/>
              </a:ext>
            </a:extLst>
          </p:cNvPr>
          <p:cNvSpPr>
            <a:spLocks noGrp="1"/>
          </p:cNvSpPr>
          <p:nvPr/>
        </p:nvSpPr>
        <p:spPr>
          <a:xfrm>
            <a:off x="6191250" y="4419600"/>
            <a:ext cx="1428750" cy="9525"/>
          </a:xfrm>
          <a:prstGeom prst="rect">
            <a:avLst/>
          </a:prstGeom>
          <a:solidFill>
            <a:srgbClr val="2A4550"/>
          </a:solidFill>
          <a:ln w="0">
            <a:solidFill>
              <a:srgbClr val="000000">
                <a:alpha val="0"/>
              </a:srgbClr>
            </a:solidFill>
            <a:prstDash val="solid"/>
          </a:ln>
        </p:spPr>
      </p:sp>
      <p:sp>
        <p:nvSpPr>
          <p:cNvPr id="20" name="">
            <a:extLst>
              <a:ext uri="{FF2B5EF4-FFF2-40B4-BE49-F238E27FC236}">
                <ns3:creationId id="{78021F07-D270-4EAE-88B9-969871715E9B}"/>
              </a:ext>
            </a:extLst>
          </p:cNvPr>
          <p:cNvSpPr>
            <a:spLocks noGrp="1"/>
          </p:cNvSpPr>
          <p:nvPr/>
        </p:nvSpPr>
        <p:spPr>
          <a:xfrm>
            <a:off x="6191250" y="4572000"/>
            <a:ext cx="14287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BD3E6"/>
                </a:solidFill>
                <a:latin typeface="Aptos Display"/>
                <a:ea typeface="Aptos Display"/>
                <a:cs typeface="Aptos Display"/>
              </a:defRPr>
            </a:pPr>
            <a:r>
              <a:rPr sz="1725" b="1">
                <a:solidFill>
                  <a:srgbClr val="8BD3E6"/>
                </a:solidFill>
                <a:latin typeface="Aptos Display"/>
                <a:ea typeface="Aptos Display"/>
                <a:cs typeface="Aptos Display"/>
              </a:rPr>
              <a:t>60+ min</a:t>
            </a:r>
          </a:p>
        </p:txBody>
      </p:sp>
      <p:sp>
        <p:nvSpPr>
          <p:cNvPr id="21" name="">
            <a:extLst>
              <a:ext uri="{FF2B5EF4-FFF2-40B4-BE49-F238E27FC236}">
                <ns3:creationId id="{A6789676-58E2-4E96-8F2C-A26600CEDC26}"/>
              </a:ext>
            </a:extLst>
          </p:cNvPr>
          <p:cNvSpPr>
            <a:spLocks noGrp="1"/>
          </p:cNvSpPr>
          <p:nvPr/>
        </p:nvSpPr>
        <p:spPr>
          <a:xfrm>
            <a:off x="6191250" y="491490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SESSION TARGET</a:t>
            </a:r>
          </a:p>
        </p:txBody>
      </p:sp>
      <p:sp>
        <p:nvSpPr>
          <p:cNvPr id="22" name="">
            <a:extLst>
              <a:ext uri="{FF2B5EF4-FFF2-40B4-BE49-F238E27FC236}">
                <ns3:creationId id="{C539449E-1FCC-445D-BAA2-E4033A65A015}"/>
              </a:ext>
            </a:extLst>
          </p:cNvPr>
          <p:cNvSpPr>
            <a:spLocks noGrp="1"/>
          </p:cNvSpPr>
          <p:nvPr/>
        </p:nvSpPr>
        <p:spPr>
          <a:xfrm>
            <a:off x="6191250" y="5095875"/>
            <a:ext cx="1428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60+ minutes</a:t>
            </a:r>
          </a:p>
        </p:txBody>
      </p:sp>
      <p:pic>
        <p:nvPicPr>
          <p:cNvPr id="23" name=""/>
          <p:cNvPicPr>
            <a:picLocks noChangeAspect="1"/>
          </p:cNvPicPr>
          <p:nvPr/>
        </p:nvPicPr>
        <p:blipFill>
          <a:blip r:embed="R12f0b064f4034e22"/>
          <a:srcRect l="25855" t="0" r="25855" b="0"/>
          <a:stretch>
            <a:fillRect l="0" t="0" r="0" b="0"/>
          </a:stretch>
        </p:blipFill>
        <p:spPr>
          <a:xfrm>
            <a:off x="8001000" y="1047750"/>
            <a:ext cx="3143250" cy="3638550"/>
          </a:xfrm>
          <a:prstGeom prst="rect">
            <a:avLst/>
          </a:prstGeom>
        </p:spPr>
      </p:pic>
      <p:sp>
        <p:nvSpPr>
          <p:cNvPr id="24" name="">
            <a:extLst>
              <a:ext uri="{FF2B5EF4-FFF2-40B4-BE49-F238E27FC236}">
                <ns3:creationId id="{317E20AE-84C2-4BDB-A855-1128666548E4}"/>
              </a:ext>
            </a:extLst>
          </p:cNvPr>
          <p:cNvSpPr>
            <a:spLocks noGrp="1"/>
          </p:cNvSpPr>
          <p:nvPr/>
        </p:nvSpPr>
        <p:spPr>
          <a:xfrm>
            <a:off x="8001000" y="4953000"/>
            <a:ext cx="3143250" cy="552450"/>
          </a:xfrm>
          <a:prstGeom prst="rect">
            <a:avLst/>
          </a:prstGeom>
          <a:solidFill>
            <a:srgbClr val="102A32"/>
          </a:solidFill>
          <a:ln w="9525">
            <a:solidFill>
              <a:srgbClr val="3C5B64"/>
            </a:solidFill>
            <a:prstDash val="solid"/>
          </a:ln>
        </p:spPr>
      </p:sp>
      <p:sp>
        <p:nvSpPr>
          <p:cNvPr id="25" name="">
            <a:extLst>
              <a:ext uri="{FF2B5EF4-FFF2-40B4-BE49-F238E27FC236}">
                <ns3:creationId id="{87F64DE7-8BFA-4780-A774-686292A268B4}"/>
              </a:ext>
            </a:extLst>
          </p:cNvPr>
          <p:cNvSpPr>
            <a:spLocks noGrp="1"/>
          </p:cNvSpPr>
          <p:nvPr/>
        </p:nvSpPr>
        <p:spPr>
          <a:xfrm>
            <a:off x="8210550" y="5086350"/>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5FAF8"/>
                </a:solidFill>
                <a:latin typeface="Aptos"/>
                <a:ea typeface="Aptos"/>
                <a:cs typeface="Aptos"/>
              </a:defRPr>
            </a:pPr>
            <a:r>
              <a:rPr sz="863" b="0">
                <a:solidFill>
                  <a:srgbClr val="F5FAF8"/>
                </a:solidFill>
                <a:latin typeface="Aptos"/>
                <a:ea typeface="Aptos"/>
                <a:cs typeface="Aptos"/>
              </a:rPr>
              <a:t>Mood target</a:t>
            </a:r>
          </a:p>
        </p:txBody>
      </p:sp>
      <p:sp>
        <p:nvSpPr>
          <p:cNvPr id="26" name="">
            <a:extLst>
              <a:ext uri="{FF2B5EF4-FFF2-40B4-BE49-F238E27FC236}">
                <ns3:creationId id="{D8A56C34-3365-4829-A0CB-B5D0B182FFC3}"/>
              </a:ext>
            </a:extLst>
          </p:cNvPr>
          <p:cNvSpPr>
            <a:spLocks noGrp="1"/>
          </p:cNvSpPr>
          <p:nvPr/>
        </p:nvSpPr>
        <p:spPr>
          <a:xfrm>
            <a:off x="8210550" y="5295900"/>
            <a:ext cx="2571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B6C8C7"/>
                </a:solidFill>
                <a:latin typeface="Aptos"/>
                <a:ea typeface="Aptos"/>
                <a:cs typeface="Aptos"/>
              </a:defRPr>
            </a:pPr>
            <a:r>
              <a:rPr sz="765" b="0">
                <a:solidFill>
                  <a:srgbClr val="B6C8C7"/>
                </a:solidFill>
                <a:latin typeface="Aptos"/>
                <a:ea typeface="Aptos"/>
                <a:cs typeface="Aptos"/>
              </a:rPr>
              <a:t>Grounded, atmospheric and accessible</a:t>
            </a:r>
          </a:p>
        </p:txBody>
      </p:sp>
      <p:sp>
        <p:nvSpPr>
          <p:cNvPr id="27" name="">
            <a:extLst>
              <a:ext uri="{FF2B5EF4-FFF2-40B4-BE49-F238E27FC236}">
                <ns3:creationId id="{5D9B011B-F0A0-464A-B913-74A12DD5D201}"/>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28" name="">
            <a:extLst>
              <a:ext uri="{FF2B5EF4-FFF2-40B4-BE49-F238E27FC236}">
                <ns3:creationId id="{B1835423-0C1D-411B-A01D-FCA42DE78722}"/>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02</a:t>
            </a:r>
          </a:p>
        </p:txBody>
      </p:sp>
    </p:spTree>
    <p:extLst>
      <p:ext uri="{BB962C8B-B14F-4D97-AF65-F5344CB8AC3E}">
        <ns4:creationId val="382059188"/>
      </p:ext>
    </p:extLst>
  </p:cSld>
</p:sld>
</file>

<file path=ppt/slides/slide3.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35" name="Berg alternating background 3"/>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E43D28E8-9E29-4580-94FC-4D6EF0698580}"/>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
            <a:extLst>
              <a:ext uri="{FF2B5EF4-FFF2-40B4-BE49-F238E27FC236}">
                <ns3:creationId id="{9F41AD23-3948-4DC0-8DCB-D337661A0A1C}"/>
              </a:ext>
            </a:extLst>
          </p:cNvPr>
          <p:cNvSpPr>
            <a:spLocks noGrp="1"/>
          </p:cNvSpPr>
          <p:nvPr/>
        </p:nvSpPr>
        <p:spPr>
          <a:xfrm>
            <a:off x="0" y="0"/>
            <a:ext cx="12192000" cy="838200"/>
          </a:xfrm>
          <a:prstGeom prst="rect">
            <a:avLst/>
          </a:prstGeom>
          <a:solidFill>
            <a:srgbClr val="0B1B20"/>
          </a:solidFill>
          <a:ln w="0">
            <a:solidFill>
              <a:srgbClr val="000000">
                <a:alpha val="0"/>
              </a:srgbClr>
            </a:solidFill>
            <a:prstDash val="solid"/>
          </a:ln>
        </p:spPr>
      </p:sp>
      <p:sp>
        <p:nvSpPr>
          <p:cNvPr id="3" name="">
            <a:extLst>
              <a:ext uri="{FF2B5EF4-FFF2-40B4-BE49-F238E27FC236}">
                <ns3:creationId id="{E8DC2128-D256-4032-B53D-7023E6AE17FE}"/>
              </a:ext>
            </a:extLst>
          </p:cNvPr>
          <p:cNvSpPr>
            <a:spLocks noGrp="1"/>
          </p:cNvSpPr>
          <p:nvPr/>
        </p:nvSpPr>
        <p:spPr>
          <a:xfrm>
            <a:off x="0" y="6400800"/>
            <a:ext cx="12192000" cy="457200"/>
          </a:xfrm>
          <a:prstGeom prst="rect">
            <a:avLst/>
          </a:prstGeom>
          <a:solidFill>
            <a:srgbClr val="061015"/>
          </a:solidFill>
          <a:ln w="0">
            <a:solidFill>
              <a:srgbClr val="000000">
                <a:alpha val="0"/>
              </a:srgbClr>
            </a:solidFill>
            <a:prstDash val="solid"/>
          </a:ln>
        </p:spPr>
      </p:sp>
      <p:sp>
        <p:nvSpPr>
          <p:cNvPr id="4" name="">
            <a:extLst>
              <a:ext uri="{FF2B5EF4-FFF2-40B4-BE49-F238E27FC236}">
                <ns3:creationId id="{56ECF1DF-80CD-43AD-99BE-4BF793064180}"/>
              </a:ext>
            </a:extLst>
          </p:cNvPr>
          <p:cNvSpPr>
            <a:spLocks noGrp="1"/>
          </p:cNvSpPr>
          <p:nvPr/>
        </p:nvSpPr>
        <p:spPr>
          <a:xfrm>
            <a:off x="552450" y="838200"/>
            <a:ext cx="11087100" cy="9525"/>
          </a:xfrm>
          <a:prstGeom prst="rect">
            <a:avLst/>
          </a:prstGeom>
          <a:solidFill>
            <a:srgbClr val="203C45"/>
          </a:solidFill>
          <a:ln w="0">
            <a:solidFill>
              <a:srgbClr val="000000">
                <a:alpha val="0"/>
              </a:srgbClr>
            </a:solidFill>
            <a:prstDash val="solid"/>
          </a:ln>
        </p:spPr>
      </p:sp>
      <p:sp>
        <p:nvSpPr>
          <p:cNvPr id="5" name="kicker-03-marker">
            <a:extLst>
              <a:ext uri="{FF2B5EF4-FFF2-40B4-BE49-F238E27FC236}">
                <ns3:creationId id="{7152ADE9-7B9E-46C8-A0AE-9938954A9100}"/>
              </a:ext>
            </a:extLst>
          </p:cNvPr>
          <p:cNvSpPr>
            <a:spLocks noGrp="1"/>
          </p:cNvSpPr>
          <p:nvPr/>
        </p:nvSpPr>
        <p:spPr>
          <a:xfrm>
            <a:off x="552450" y="514350"/>
            <a:ext cx="76200" cy="76200"/>
          </a:xfrm>
          <a:prstGeom prst="rect">
            <a:avLst/>
          </a:prstGeom>
          <a:solidFill>
            <a:srgbClr val="8BD3E6"/>
          </a:solidFill>
          <a:ln w="0">
            <a:solidFill>
              <a:srgbClr val="000000">
                <a:alpha val="0"/>
              </a:srgbClr>
            </a:solidFill>
            <a:prstDash val="solid"/>
          </a:ln>
        </p:spPr>
      </p:sp>
      <p:sp>
        <p:nvSpPr>
          <p:cNvPr id="6" name="kicker-03-label">
            <a:extLst>
              <a:ext uri="{FF2B5EF4-FFF2-40B4-BE49-F238E27FC236}">
                <ns3:creationId id="{FD32BAC9-B621-4CA8-8331-C873C329B0E7}"/>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MOMENT-TO-MOMENT LOOP</a:t>
            </a:r>
          </a:p>
        </p:txBody>
      </p:sp>
      <p:sp>
        <p:nvSpPr>
          <p:cNvPr id="7" name="">
            <a:extLst>
              <a:ext uri="{FF2B5EF4-FFF2-40B4-BE49-F238E27FC236}">
                <ns3:creationId id="{67FF3E6D-F984-4930-8B4E-7B9C5C4A1604}"/>
              </a:ext>
            </a:extLst>
          </p:cNvPr>
          <p:cNvSpPr>
            <a:spLocks noGrp="1"/>
          </p:cNvSpPr>
          <p:nvPr/>
        </p:nvSpPr>
        <p:spPr>
          <a:xfrm>
            <a:off x="552450" y="990600"/>
            <a:ext cx="7239000" cy="685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The climb is built around clear physical decisions.</a:t>
            </a:r>
          </a:p>
        </p:txBody>
      </p:sp>
      <p:sp>
        <p:nvSpPr>
          <p:cNvPr id="8" name="">
            <a:extLst>
              <a:ext uri="{FF2B5EF4-FFF2-40B4-BE49-F238E27FC236}">
                <ns3:creationId id="{7E44F5B8-1969-4150-835D-74F4E9D7E3CC}"/>
              </a:ext>
            </a:extLst>
          </p:cNvPr>
          <p:cNvSpPr>
            <a:spLocks noGrp="1"/>
          </p:cNvSpPr>
          <p:nvPr/>
        </p:nvSpPr>
        <p:spPr>
          <a:xfrm>
            <a:off x="590550" y="1847850"/>
            <a:ext cx="81915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0" b="0">
                <a:solidFill>
                  <a:srgbClr val="B6C8C7"/>
                </a:solidFill>
                <a:latin typeface="Aptos"/>
                <a:ea typeface="Aptos"/>
                <a:cs typeface="Aptos"/>
              </a:defRPr>
            </a:pPr>
            <a:r>
              <a:rPr sz="930" b="0">
                <a:solidFill>
                  <a:srgbClr val="B6C8C7"/>
                </a:solidFill>
                <a:latin typeface="Aptos"/>
                <a:ea typeface="Aptos"/>
                <a:cs typeface="Aptos"/>
              </a:rPr>
              <a:t>BERG translates climbing into a readable gameplay loop. Players read the route, climb by moving each hand separately, attach themselves to rope anchors and monitor their body state under changing alpine conditions.</a:t>
            </a:r>
          </a:p>
        </p:txBody>
      </p:sp>
      <p:sp>
        <p:nvSpPr>
          <p:cNvPr id="9" name="">
            <a:extLst>
              <a:ext uri="{FF2B5EF4-FFF2-40B4-BE49-F238E27FC236}">
                <ns3:creationId id="{C797839B-6BE0-4925-B931-804425BA51F1}"/>
              </a:ext>
            </a:extLst>
          </p:cNvPr>
          <p:cNvSpPr>
            <a:spLocks noGrp="1"/>
          </p:cNvSpPr>
          <p:nvPr/>
        </p:nvSpPr>
        <p:spPr>
          <a:xfrm>
            <a:off x="685800" y="2628900"/>
            <a:ext cx="2381250" cy="1066800"/>
          </a:xfrm>
          <a:prstGeom prst="rect">
            <a:avLst/>
          </a:prstGeom>
          <a:solidFill>
            <a:srgbClr val="0D2229"/>
          </a:solidFill>
          <a:ln w="9525">
            <a:solidFill>
              <a:srgbClr val="2E4C55"/>
            </a:solidFill>
            <a:prstDash val="solid"/>
          </a:ln>
        </p:spPr>
      </p:sp>
      <p:sp>
        <p:nvSpPr>
          <p:cNvPr id="10" name="">
            <a:extLst>
              <a:ext uri="{FF2B5EF4-FFF2-40B4-BE49-F238E27FC236}">
                <ns3:creationId id="{BEE1FF43-6A34-4091-B00B-9679B5CF32B0}"/>
              </a:ext>
            </a:extLst>
          </p:cNvPr>
          <p:cNvSpPr>
            <a:spLocks noGrp="1"/>
          </p:cNvSpPr>
          <p:nvPr/>
        </p:nvSpPr>
        <p:spPr>
          <a:xfrm>
            <a:off x="685800" y="2628900"/>
            <a:ext cx="2381250" cy="47625"/>
          </a:xfrm>
          <a:prstGeom prst="rect">
            <a:avLst/>
          </a:prstGeom>
          <a:solidFill>
            <a:srgbClr val="8ED17A"/>
          </a:solidFill>
          <a:ln w="0">
            <a:solidFill>
              <a:srgbClr val="000000">
                <a:alpha val="0"/>
              </a:srgbClr>
            </a:solidFill>
            <a:prstDash val="solid"/>
          </a:ln>
        </p:spPr>
      </p:sp>
      <p:sp>
        <p:nvSpPr>
          <p:cNvPr id="11" name="">
            <a:extLst>
              <a:ext uri="{FF2B5EF4-FFF2-40B4-BE49-F238E27FC236}">
                <ns3:creationId id="{F7600404-9C60-4E9B-BD54-58CFD3CFFF20}"/>
              </a:ext>
            </a:extLst>
          </p:cNvPr>
          <p:cNvSpPr>
            <a:spLocks noGrp="1"/>
          </p:cNvSpPr>
          <p:nvPr/>
        </p:nvSpPr>
        <p:spPr>
          <a:xfrm>
            <a:off x="838200" y="2800350"/>
            <a:ext cx="2076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01 — Read the route</a:t>
            </a:r>
          </a:p>
        </p:txBody>
      </p:sp>
      <p:sp>
        <p:nvSpPr>
          <p:cNvPr id="12" name="">
            <a:extLst>
              <a:ext uri="{FF2B5EF4-FFF2-40B4-BE49-F238E27FC236}">
                <ns3:creationId id="{F923D528-0C03-4808-9261-B981DF8DECE2}"/>
              </a:ext>
            </a:extLst>
          </p:cNvPr>
          <p:cNvSpPr>
            <a:spLocks noGrp="1"/>
          </p:cNvSpPr>
          <p:nvPr/>
        </p:nvSpPr>
        <p:spPr>
          <a:xfrm>
            <a:off x="838200" y="3105150"/>
            <a:ext cx="20764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B6C8C7"/>
                </a:solidFill>
                <a:latin typeface="Aptos"/>
                <a:ea typeface="Aptos"/>
                <a:cs typeface="Aptos"/>
              </a:defRPr>
            </a:pPr>
            <a:r>
              <a:rPr sz="668" b="0">
                <a:solidFill>
                  <a:srgbClr val="B6C8C7"/>
                </a:solidFill>
                <a:latin typeface="Aptos"/>
                <a:ea typeface="Aptos"/>
                <a:cs typeface="Aptos"/>
              </a:rPr>
              <a:t>Players follow marked climbing lines, evaluate the next section and choose when to continue, rest or change approach.</a:t>
            </a:r>
          </a:p>
        </p:txBody>
      </p:sp>
      <p:sp>
        <p:nvSpPr>
          <p:cNvPr id="13" name="">
            <a:extLst>
              <a:ext uri="{FF2B5EF4-FFF2-40B4-BE49-F238E27FC236}">
                <ns3:creationId id="{B9CA1A92-F096-4076-B118-84DDEDC3006F}"/>
              </a:ext>
            </a:extLst>
          </p:cNvPr>
          <p:cNvSpPr>
            <a:spLocks noGrp="1"/>
          </p:cNvSpPr>
          <p:nvPr/>
        </p:nvSpPr>
        <p:spPr>
          <a:xfrm>
            <a:off x="3333750" y="2628900"/>
            <a:ext cx="2381250" cy="1066800"/>
          </a:xfrm>
          <a:prstGeom prst="rect">
            <a:avLst/>
          </a:prstGeom>
          <a:solidFill>
            <a:srgbClr val="0D2229"/>
          </a:solidFill>
          <a:ln w="9525">
            <a:solidFill>
              <a:srgbClr val="2E4C55"/>
            </a:solidFill>
            <a:prstDash val="solid"/>
          </a:ln>
        </p:spPr>
      </p:sp>
      <p:sp>
        <p:nvSpPr>
          <p:cNvPr id="14" name="">
            <a:extLst>
              <a:ext uri="{FF2B5EF4-FFF2-40B4-BE49-F238E27FC236}">
                <ns3:creationId id="{F75C9E04-13F8-4DAF-BB6E-1E9CE4F6FFA0}"/>
              </a:ext>
            </a:extLst>
          </p:cNvPr>
          <p:cNvSpPr>
            <a:spLocks noGrp="1"/>
          </p:cNvSpPr>
          <p:nvPr/>
        </p:nvSpPr>
        <p:spPr>
          <a:xfrm>
            <a:off x="3333750" y="2628900"/>
            <a:ext cx="2381250" cy="47625"/>
          </a:xfrm>
          <a:prstGeom prst="rect">
            <a:avLst/>
          </a:prstGeom>
          <a:solidFill>
            <a:srgbClr val="8BD3E6"/>
          </a:solidFill>
          <a:ln w="0">
            <a:solidFill>
              <a:srgbClr val="000000">
                <a:alpha val="0"/>
              </a:srgbClr>
            </a:solidFill>
            <a:prstDash val="solid"/>
          </a:ln>
        </p:spPr>
      </p:sp>
      <p:sp>
        <p:nvSpPr>
          <p:cNvPr id="15" name="">
            <a:extLst>
              <a:ext uri="{FF2B5EF4-FFF2-40B4-BE49-F238E27FC236}">
                <ns3:creationId id="{1A1B3248-B3B0-4E61-AA39-551122AB6E39}"/>
              </a:ext>
            </a:extLst>
          </p:cNvPr>
          <p:cNvSpPr>
            <a:spLocks noGrp="1"/>
          </p:cNvSpPr>
          <p:nvPr/>
        </p:nvSpPr>
        <p:spPr>
          <a:xfrm>
            <a:off x="3486150" y="2800350"/>
            <a:ext cx="2076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02 — Move each hand</a:t>
            </a:r>
          </a:p>
        </p:txBody>
      </p:sp>
      <p:sp>
        <p:nvSpPr>
          <p:cNvPr id="16" name="">
            <a:extLst>
              <a:ext uri="{FF2B5EF4-FFF2-40B4-BE49-F238E27FC236}">
                <ns3:creationId id="{EC21E1C3-9ECB-414C-A40A-6BBD1ABE90B3}"/>
              </a:ext>
            </a:extLst>
          </p:cNvPr>
          <p:cNvSpPr>
            <a:spLocks noGrp="1"/>
          </p:cNvSpPr>
          <p:nvPr/>
        </p:nvSpPr>
        <p:spPr>
          <a:xfrm>
            <a:off x="3486150" y="3105150"/>
            <a:ext cx="20764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0">
                <a:solidFill>
                  <a:srgbClr val="B6C8C7"/>
                </a:solidFill>
                <a:latin typeface="Aptos"/>
                <a:ea typeface="Aptos"/>
                <a:cs typeface="Aptos"/>
              </a:defRPr>
            </a:pPr>
            <a:r>
              <a:rPr sz="705" b="0">
                <a:solidFill>
                  <a:srgbClr val="B6C8C7"/>
                </a:solidFill>
                <a:latin typeface="Aptos"/>
                <a:ea typeface="Aptos"/>
                <a:cs typeface="Aptos"/>
              </a:rPr>
              <a:t>Separate left and right hand inputs create the core climbing rhythm.</a:t>
            </a:r>
          </a:p>
        </p:txBody>
      </p:sp>
      <p:sp>
        <p:nvSpPr>
          <p:cNvPr id="17" name="">
            <a:extLst>
              <a:ext uri="{FF2B5EF4-FFF2-40B4-BE49-F238E27FC236}">
                <ns3:creationId id="{BD2BA4F5-ABE4-482B-ABD0-88B2DFC375BF}"/>
              </a:ext>
            </a:extLst>
          </p:cNvPr>
          <p:cNvSpPr>
            <a:spLocks noGrp="1"/>
          </p:cNvSpPr>
          <p:nvPr/>
        </p:nvSpPr>
        <p:spPr>
          <a:xfrm>
            <a:off x="5981700" y="2628900"/>
            <a:ext cx="2381250" cy="1066800"/>
          </a:xfrm>
          <a:prstGeom prst="rect">
            <a:avLst/>
          </a:prstGeom>
          <a:solidFill>
            <a:srgbClr val="0D2229"/>
          </a:solidFill>
          <a:ln w="9525">
            <a:solidFill>
              <a:srgbClr val="2E4C55"/>
            </a:solidFill>
            <a:prstDash val="solid"/>
          </a:ln>
        </p:spPr>
      </p:sp>
      <p:sp>
        <p:nvSpPr>
          <p:cNvPr id="18" name="">
            <a:extLst>
              <a:ext uri="{FF2B5EF4-FFF2-40B4-BE49-F238E27FC236}">
                <ns3:creationId id="{63C99F9F-4C01-4292-A7D5-70CF83F8B5CA}"/>
              </a:ext>
            </a:extLst>
          </p:cNvPr>
          <p:cNvSpPr>
            <a:spLocks noGrp="1"/>
          </p:cNvSpPr>
          <p:nvPr/>
        </p:nvSpPr>
        <p:spPr>
          <a:xfrm>
            <a:off x="5981700" y="2628900"/>
            <a:ext cx="2381250" cy="47625"/>
          </a:xfrm>
          <a:prstGeom prst="rect">
            <a:avLst/>
          </a:prstGeom>
          <a:solidFill>
            <a:srgbClr val="FFB55A"/>
          </a:solidFill>
          <a:ln w="0">
            <a:solidFill>
              <a:srgbClr val="000000">
                <a:alpha val="0"/>
              </a:srgbClr>
            </a:solidFill>
            <a:prstDash val="solid"/>
          </a:ln>
        </p:spPr>
      </p:sp>
      <p:sp>
        <p:nvSpPr>
          <p:cNvPr id="19" name="">
            <a:extLst>
              <a:ext uri="{FF2B5EF4-FFF2-40B4-BE49-F238E27FC236}">
                <ns3:creationId id="{7CE48C35-AE98-488A-A73E-CF734B579320}"/>
              </a:ext>
            </a:extLst>
          </p:cNvPr>
          <p:cNvSpPr>
            <a:spLocks noGrp="1"/>
          </p:cNvSpPr>
          <p:nvPr/>
        </p:nvSpPr>
        <p:spPr>
          <a:xfrm>
            <a:off x="6134100" y="2800350"/>
            <a:ext cx="2076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03 — Attach to anchors</a:t>
            </a:r>
          </a:p>
        </p:txBody>
      </p:sp>
      <p:sp>
        <p:nvSpPr>
          <p:cNvPr id="20" name="">
            <a:extLst>
              <a:ext uri="{FF2B5EF4-FFF2-40B4-BE49-F238E27FC236}">
                <ns3:creationId id="{04F6879E-3B34-46B6-B82C-BCEF8AB9540F}"/>
              </a:ext>
            </a:extLst>
          </p:cNvPr>
          <p:cNvSpPr>
            <a:spLocks noGrp="1"/>
          </p:cNvSpPr>
          <p:nvPr/>
        </p:nvSpPr>
        <p:spPr>
          <a:xfrm>
            <a:off x="6134100" y="3105150"/>
            <a:ext cx="20764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82" b="0">
                <a:solidFill>
                  <a:srgbClr val="B6C8C7"/>
                </a:solidFill>
                <a:latin typeface="Aptos"/>
                <a:ea typeface="Aptos"/>
                <a:cs typeface="Aptos"/>
              </a:defRPr>
            </a:pPr>
            <a:r>
              <a:rPr sz="682" b="0">
                <a:solidFill>
                  <a:srgbClr val="B6C8C7"/>
                </a:solidFill>
                <a:latin typeface="Aptos"/>
                <a:ea typeface="Aptos"/>
                <a:cs typeface="Aptos"/>
              </a:rPr>
              <a:t>Players secure themselves to fixed rope points to reduce fall risk and create safer progress.</a:t>
            </a:r>
          </a:p>
        </p:txBody>
      </p:sp>
      <p:sp>
        <p:nvSpPr>
          <p:cNvPr id="21" name="">
            <a:extLst>
              <a:ext uri="{FF2B5EF4-FFF2-40B4-BE49-F238E27FC236}">
                <ns3:creationId id="{5CDECF2E-5F3C-4E11-AB2E-0E5C46595A7F}"/>
              </a:ext>
            </a:extLst>
          </p:cNvPr>
          <p:cNvSpPr>
            <a:spLocks noGrp="1"/>
          </p:cNvSpPr>
          <p:nvPr/>
        </p:nvSpPr>
        <p:spPr>
          <a:xfrm>
            <a:off x="8629650" y="2628900"/>
            <a:ext cx="2381250" cy="1066800"/>
          </a:xfrm>
          <a:prstGeom prst="rect">
            <a:avLst/>
          </a:prstGeom>
          <a:solidFill>
            <a:srgbClr val="0D2229"/>
          </a:solidFill>
          <a:ln w="9525">
            <a:solidFill>
              <a:srgbClr val="2E4C55"/>
            </a:solidFill>
            <a:prstDash val="solid"/>
          </a:ln>
        </p:spPr>
      </p:sp>
      <p:sp>
        <p:nvSpPr>
          <p:cNvPr id="22" name="">
            <a:extLst>
              <a:ext uri="{FF2B5EF4-FFF2-40B4-BE49-F238E27FC236}">
                <ns3:creationId id="{3A0A1A1A-1028-44FB-94AF-2A3FBA452ABF}"/>
              </a:ext>
            </a:extLst>
          </p:cNvPr>
          <p:cNvSpPr>
            <a:spLocks noGrp="1"/>
          </p:cNvSpPr>
          <p:nvPr/>
        </p:nvSpPr>
        <p:spPr>
          <a:xfrm>
            <a:off x="8629650" y="2628900"/>
            <a:ext cx="2381250" cy="47625"/>
          </a:xfrm>
          <a:prstGeom prst="rect">
            <a:avLst/>
          </a:prstGeom>
          <a:solidFill>
            <a:srgbClr val="E64232"/>
          </a:solidFill>
          <a:ln w="0">
            <a:solidFill>
              <a:srgbClr val="000000">
                <a:alpha val="0"/>
              </a:srgbClr>
            </a:solidFill>
            <a:prstDash val="solid"/>
          </a:ln>
        </p:spPr>
      </p:sp>
      <p:sp>
        <p:nvSpPr>
          <p:cNvPr id="23" name="">
            <a:extLst>
              <a:ext uri="{FF2B5EF4-FFF2-40B4-BE49-F238E27FC236}">
                <ns3:creationId id="{F3F896B5-46C3-4CC6-B569-37A4732D3E4F}"/>
              </a:ext>
            </a:extLst>
          </p:cNvPr>
          <p:cNvSpPr>
            <a:spLocks noGrp="1"/>
          </p:cNvSpPr>
          <p:nvPr/>
        </p:nvSpPr>
        <p:spPr>
          <a:xfrm>
            <a:off x="8782050" y="2800350"/>
            <a:ext cx="2076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04 — Monitor body state</a:t>
            </a:r>
          </a:p>
        </p:txBody>
      </p:sp>
      <p:sp>
        <p:nvSpPr>
          <p:cNvPr id="24" name="">
            <a:extLst>
              <a:ext uri="{FF2B5EF4-FFF2-40B4-BE49-F238E27FC236}">
                <ns3:creationId id="{E512B197-6F7A-4824-B286-07A92233189C}"/>
              </a:ext>
            </a:extLst>
          </p:cNvPr>
          <p:cNvSpPr>
            <a:spLocks noGrp="1"/>
          </p:cNvSpPr>
          <p:nvPr/>
        </p:nvSpPr>
        <p:spPr>
          <a:xfrm>
            <a:off x="8782050" y="3105150"/>
            <a:ext cx="20764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82" b="0">
                <a:solidFill>
                  <a:srgbClr val="B6C8C7"/>
                </a:solidFill>
                <a:latin typeface="Aptos"/>
                <a:ea typeface="Aptos"/>
                <a:cs typeface="Aptos"/>
              </a:defRPr>
            </a:pPr>
            <a:r>
              <a:rPr sz="682" b="0">
                <a:solidFill>
                  <a:srgbClr val="B6C8C7"/>
                </a:solidFill>
                <a:latin typeface="Aptos"/>
                <a:ea typeface="Aptos"/>
                <a:cs typeface="Aptos"/>
              </a:rPr>
              <a:t>Cold, oxygen and stamina affect movement speed, grip reliability and recovery.</a:t>
            </a:r>
          </a:p>
        </p:txBody>
      </p:sp>
      <p:sp>
        <p:nvSpPr>
          <p:cNvPr id="25" name="">
            <a:extLst>
              <a:ext uri="{FF2B5EF4-FFF2-40B4-BE49-F238E27FC236}">
                <ns3:creationId id="{0DEC272B-5201-4AFE-B3AA-38478C9EC7EF}"/>
              </a:ext>
            </a:extLst>
          </p:cNvPr>
          <p:cNvSpPr>
            <a:spLocks noGrp="1"/>
          </p:cNvSpPr>
          <p:nvPr/>
        </p:nvSpPr>
        <p:spPr>
          <a:xfrm>
            <a:off x="685800" y="4171950"/>
            <a:ext cx="4076700" cy="1219200"/>
          </a:xfrm>
          <a:prstGeom prst="rect">
            <a:avLst/>
          </a:prstGeom>
          <a:solidFill>
            <a:srgbClr val="0D2229"/>
          </a:solidFill>
          <a:ln w="9525">
            <a:solidFill>
              <a:srgbClr val="2E4C55"/>
            </a:solidFill>
            <a:prstDash val="solid"/>
          </a:ln>
        </p:spPr>
      </p:sp>
      <p:sp>
        <p:nvSpPr>
          <p:cNvPr id="26" name="">
            <a:extLst>
              <a:ext uri="{FF2B5EF4-FFF2-40B4-BE49-F238E27FC236}">
                <ns3:creationId id="{C804DD12-F1B4-4DCF-97C0-C6F9A0ECBC24}"/>
              </a:ext>
            </a:extLst>
          </p:cNvPr>
          <p:cNvSpPr>
            <a:spLocks noGrp="1"/>
          </p:cNvSpPr>
          <p:nvPr/>
        </p:nvSpPr>
        <p:spPr>
          <a:xfrm>
            <a:off x="685800" y="4171950"/>
            <a:ext cx="4076700" cy="47625"/>
          </a:xfrm>
          <a:prstGeom prst="rect">
            <a:avLst/>
          </a:prstGeom>
          <a:solidFill>
            <a:srgbClr val="E64232"/>
          </a:solidFill>
          <a:ln w="0">
            <a:solidFill>
              <a:srgbClr val="000000">
                <a:alpha val="0"/>
              </a:srgbClr>
            </a:solidFill>
            <a:prstDash val="solid"/>
          </a:ln>
        </p:spPr>
      </p:sp>
      <p:sp>
        <p:nvSpPr>
          <p:cNvPr id="27" name="">
            <a:extLst>
              <a:ext uri="{FF2B5EF4-FFF2-40B4-BE49-F238E27FC236}">
                <ns3:creationId id="{98D413F2-2258-4920-99B8-8268ABD11131}"/>
              </a:ext>
            </a:extLst>
          </p:cNvPr>
          <p:cNvSpPr>
            <a:spLocks noGrp="1"/>
          </p:cNvSpPr>
          <p:nvPr/>
        </p:nvSpPr>
        <p:spPr>
          <a:xfrm>
            <a:off x="838200" y="4343400"/>
            <a:ext cx="3771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5FAF8"/>
                </a:solidFill>
                <a:latin typeface="Aptos"/>
                <a:ea typeface="Aptos"/>
                <a:cs typeface="Aptos"/>
              </a:defRPr>
            </a:pPr>
            <a:r>
              <a:rPr sz="1125" b="1">
                <a:solidFill>
                  <a:srgbClr val="F5FAF8"/>
                </a:solidFill>
                <a:latin typeface="Aptos"/>
                <a:ea typeface="Aptos"/>
                <a:cs typeface="Aptos"/>
              </a:rPr>
              <a:t>Failure model</a:t>
            </a:r>
          </a:p>
        </p:txBody>
      </p:sp>
      <p:sp>
        <p:nvSpPr>
          <p:cNvPr id="28" name="">
            <a:extLst>
              <a:ext uri="{FF2B5EF4-FFF2-40B4-BE49-F238E27FC236}">
                <ns3:creationId id="{3125A2BC-026B-4B52-855E-09E2635D7B89}"/>
              </a:ext>
            </a:extLst>
          </p:cNvPr>
          <p:cNvSpPr>
            <a:spLocks noGrp="1"/>
          </p:cNvSpPr>
          <p:nvPr/>
        </p:nvSpPr>
        <p:spPr>
          <a:xfrm>
            <a:off x="838200" y="4648200"/>
            <a:ext cx="3771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B6C8C7"/>
                </a:solidFill>
                <a:latin typeface="Aptos"/>
                <a:ea typeface="Aptos"/>
                <a:cs typeface="Aptos"/>
              </a:defRPr>
            </a:pPr>
            <a:r>
              <a:rPr sz="750" b="0">
                <a:solidFill>
                  <a:srgbClr val="B6C8C7"/>
                </a:solidFill>
                <a:latin typeface="Aptos"/>
                <a:ea typeface="Aptos"/>
                <a:cs typeface="Aptos"/>
              </a:rPr>
              <a:t>Fall, ragdoll, freeze, recover. Mistakes do not delete the run. Players can lose time, position and route progress, but return to a recoverable state or respawn from the checkpoint.</a:t>
            </a:r>
          </a:p>
        </p:txBody>
      </p:sp>
      <p:sp>
        <p:nvSpPr>
          <p:cNvPr id="29" name="">
            <a:extLst>
              <a:ext uri="{FF2B5EF4-FFF2-40B4-BE49-F238E27FC236}">
                <ns3:creationId id="{44A15F78-C15D-4328-9E88-6133162A25B3}"/>
              </a:ext>
            </a:extLst>
          </p:cNvPr>
          <p:cNvSpPr>
            <a:spLocks noGrp="1"/>
          </p:cNvSpPr>
          <p:nvPr/>
        </p:nvSpPr>
        <p:spPr>
          <a:xfrm>
            <a:off x="5105400" y="4171950"/>
            <a:ext cx="5905500" cy="1219200"/>
          </a:xfrm>
          <a:prstGeom prst="rect">
            <a:avLst/>
          </a:prstGeom>
          <a:solidFill>
            <a:srgbClr val="0D2229"/>
          </a:solidFill>
          <a:ln w="9525">
            <a:solidFill>
              <a:srgbClr val="2E4C55"/>
            </a:solidFill>
            <a:prstDash val="solid"/>
          </a:ln>
        </p:spPr>
      </p:sp>
      <p:sp>
        <p:nvSpPr>
          <p:cNvPr id="30" name="">
            <a:extLst>
              <a:ext uri="{FF2B5EF4-FFF2-40B4-BE49-F238E27FC236}">
                <ns3:creationId id="{470A9B90-6383-4585-B805-77E6936920F9}"/>
              </a:ext>
            </a:extLst>
          </p:cNvPr>
          <p:cNvSpPr>
            <a:spLocks noGrp="1"/>
          </p:cNvSpPr>
          <p:nvPr/>
        </p:nvSpPr>
        <p:spPr>
          <a:xfrm>
            <a:off x="5105400" y="4171950"/>
            <a:ext cx="5905500" cy="47625"/>
          </a:xfrm>
          <a:prstGeom prst="rect">
            <a:avLst/>
          </a:prstGeom>
          <a:solidFill>
            <a:srgbClr val="8BD3E6"/>
          </a:solidFill>
          <a:ln w="0">
            <a:solidFill>
              <a:srgbClr val="000000">
                <a:alpha val="0"/>
              </a:srgbClr>
            </a:solidFill>
            <a:prstDash val="solid"/>
          </a:ln>
        </p:spPr>
      </p:sp>
      <p:sp>
        <p:nvSpPr>
          <p:cNvPr id="31" name="">
            <a:extLst>
              <a:ext uri="{FF2B5EF4-FFF2-40B4-BE49-F238E27FC236}">
                <ns3:creationId id="{425F2337-12C8-443C-8A5D-76BB243CD268}"/>
              </a:ext>
            </a:extLst>
          </p:cNvPr>
          <p:cNvSpPr>
            <a:spLocks noGrp="1"/>
          </p:cNvSpPr>
          <p:nvPr/>
        </p:nvSpPr>
        <p:spPr>
          <a:xfrm>
            <a:off x="5257800" y="4343400"/>
            <a:ext cx="5600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5FAF8"/>
                </a:solidFill>
                <a:latin typeface="Aptos"/>
                <a:ea typeface="Aptos"/>
                <a:cs typeface="Aptos"/>
              </a:defRPr>
            </a:pPr>
            <a:r>
              <a:rPr sz="1125" b="1">
                <a:solidFill>
                  <a:srgbClr val="F5FAF8"/>
                </a:solidFill>
                <a:latin typeface="Aptos"/>
                <a:ea typeface="Aptos"/>
                <a:cs typeface="Aptos"/>
              </a:rPr>
              <a:t>Weather pressure</a:t>
            </a:r>
          </a:p>
        </p:txBody>
      </p:sp>
      <p:sp>
        <p:nvSpPr>
          <p:cNvPr id="32" name="">
            <a:extLst>
              <a:ext uri="{FF2B5EF4-FFF2-40B4-BE49-F238E27FC236}">
                <ns3:creationId id="{F5ED0F3F-429F-4517-BDF1-A8E23D445DA6}"/>
              </a:ext>
            </a:extLst>
          </p:cNvPr>
          <p:cNvSpPr>
            <a:spLocks noGrp="1"/>
          </p:cNvSpPr>
          <p:nvPr/>
        </p:nvSpPr>
        <p:spPr>
          <a:xfrm>
            <a:off x="5257800" y="4648200"/>
            <a:ext cx="56007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0" b="0">
                <a:solidFill>
                  <a:srgbClr val="B6C8C7"/>
                </a:solidFill>
                <a:latin typeface="Aptos"/>
                <a:ea typeface="Aptos"/>
                <a:cs typeface="Aptos"/>
              </a:defRPr>
            </a:pPr>
            <a:r>
              <a:rPr sz="720" b="0">
                <a:solidFill>
                  <a:srgbClr val="B6C8C7"/>
                </a:solidFill>
                <a:latin typeface="Aptos"/>
                <a:ea typeface="Aptos"/>
                <a:cs typeface="Aptos"/>
              </a:rPr>
              <a:t>Changing weather supports longer 60+ minute attempts. Strong wind can interfere with movement and drown out voice chat. Snowstorms reduce visibility and can separate players, creating tense moments where teammates must call out to find each other again.</a:t>
            </a:r>
          </a:p>
        </p:txBody>
      </p:sp>
      <p:sp>
        <p:nvSpPr>
          <p:cNvPr id="33" name="">
            <a:extLst>
              <a:ext uri="{FF2B5EF4-FFF2-40B4-BE49-F238E27FC236}">
                <ns3:creationId id="{43CE078C-3ED9-4750-8745-85E806BD7A05}"/>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34" name="">
            <a:extLst>
              <a:ext uri="{FF2B5EF4-FFF2-40B4-BE49-F238E27FC236}">
                <ns3:creationId id="{B4055C14-658A-4F7A-AA07-323572BA0C57}"/>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03</a:t>
            </a:r>
          </a:p>
        </p:txBody>
      </p:sp>
    </p:spTree>
    <p:extLst>
      <p:ext uri="{BB962C8B-B14F-4D97-AF65-F5344CB8AC3E}">
        <ns4:creationId val="279398119"/>
      </p:ext>
    </p:extLst>
  </p:cSld>
</p:sld>
</file>

<file path=ppt/slides/slide4.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5" name="Berg alternating background 4"/>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816C4E5C-BFA3-41EA-B773-0446BF2EFBE7}"/>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4-marker">
            <a:extLst>
              <a:ext uri="{FF2B5EF4-FFF2-40B4-BE49-F238E27FC236}">
                <ns3:creationId id="{D8E79B9F-E607-41A1-B7ED-76B64E7D642A}"/>
              </a:ext>
            </a:extLst>
          </p:cNvPr>
          <p:cNvSpPr>
            <a:spLocks noGrp="1"/>
          </p:cNvSpPr>
          <p:nvPr/>
        </p:nvSpPr>
        <p:spPr>
          <a:xfrm>
            <a:off x="552450" y="514350"/>
            <a:ext cx="76200" cy="76200"/>
          </a:xfrm>
          <a:prstGeom prst="rect">
            <a:avLst/>
          </a:prstGeom>
          <a:solidFill>
            <a:srgbClr val="8ED17A"/>
          </a:solidFill>
          <a:ln w="0">
            <a:solidFill>
              <a:srgbClr val="000000">
                <a:alpha val="0"/>
              </a:srgbClr>
            </a:solidFill>
            <a:prstDash val="solid"/>
          </a:ln>
        </p:spPr>
      </p:sp>
      <p:sp>
        <p:nvSpPr>
          <p:cNvPr id="3" name="kicker-04-label">
            <a:extLst>
              <a:ext uri="{FF2B5EF4-FFF2-40B4-BE49-F238E27FC236}">
                <ns3:creationId id="{D70CDC2A-A4A5-493D-BC0C-EB3C5B0CA83A}"/>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MOUNTAIN STRUCTURE</a:t>
            </a:r>
          </a:p>
        </p:txBody>
      </p:sp>
      <p:sp>
        <p:nvSpPr>
          <p:cNvPr id="4" name="">
            <a:extLst>
              <a:ext uri="{FF2B5EF4-FFF2-40B4-BE49-F238E27FC236}">
                <ns3:creationId id="{72E8BAA2-7365-4704-B228-14B4A70D7E04}"/>
              </a:ext>
            </a:extLst>
          </p:cNvPr>
          <p:cNvSpPr>
            <a:spLocks noGrp="1"/>
          </p:cNvSpPr>
          <p:nvPr/>
        </p:nvSpPr>
        <p:spPr>
          <a:xfrm>
            <a:off x="552450" y="990600"/>
            <a:ext cx="6858000" cy="685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One mountain, multiple routes to the same summit.</a:t>
            </a:r>
          </a:p>
        </p:txBody>
      </p:sp>
      <p:sp>
        <p:nvSpPr>
          <p:cNvPr id="5" name="">
            <a:extLst>
              <a:ext uri="{FF2B5EF4-FFF2-40B4-BE49-F238E27FC236}">
                <ns3:creationId id="{28FDEE23-240F-48E9-A26A-219EB319F069}"/>
              </a:ext>
            </a:extLst>
          </p:cNvPr>
          <p:cNvSpPr>
            <a:spLocks noGrp="1"/>
          </p:cNvSpPr>
          <p:nvPr/>
        </p:nvSpPr>
        <p:spPr>
          <a:xfrm>
            <a:off x="590550" y="1828800"/>
            <a:ext cx="65722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40" b="0">
                <a:solidFill>
                  <a:srgbClr val="B6C8C7"/>
                </a:solidFill>
                <a:latin typeface="Aptos"/>
                <a:ea typeface="Aptos"/>
                <a:cs typeface="Aptos"/>
              </a:defRPr>
            </a:pPr>
            <a:r>
              <a:rPr sz="840" b="0">
                <a:solidFill>
                  <a:srgbClr val="B6C8C7"/>
                </a:solidFill>
                <a:latin typeface="Aptos"/>
                <a:ea typeface="Aptos"/>
                <a:cs typeface="Aptos"/>
              </a:rPr>
              <a:t>All players start at the base of the mountain. The mountain contains several rope-marked routes that all lead toward the same summit, but each route creates a different risk profile. At the beginning, only one route is clearly available. As players progress, they unlock new routes and learn which lines are safer, faster or more demanding under specific conditions.</a:t>
            </a:r>
          </a:p>
        </p:txBody>
      </p:sp>
      <p:sp>
        <p:nvSpPr>
          <p:cNvPr id="6" name="">
            <a:extLst>
              <a:ext uri="{FF2B5EF4-FFF2-40B4-BE49-F238E27FC236}">
                <ns3:creationId id="{D3368D37-D597-4DA9-BF29-345159B47CBC}"/>
              </a:ext>
            </a:extLst>
          </p:cNvPr>
          <p:cNvSpPr>
            <a:spLocks noGrp="1"/>
          </p:cNvSpPr>
          <p:nvPr/>
        </p:nvSpPr>
        <p:spPr>
          <a:xfrm>
            <a:off x="590550" y="2971800"/>
            <a:ext cx="65722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40" b="0">
                <a:solidFill>
                  <a:srgbClr val="F5FAF8"/>
                </a:solidFill>
                <a:latin typeface="Aptos"/>
                <a:ea typeface="Aptos"/>
                <a:cs typeface="Aptos"/>
              </a:defRPr>
            </a:pPr>
            <a:r>
              <a:rPr sz="840" b="0">
                <a:solidFill>
                  <a:srgbClr val="F5FAF8"/>
                </a:solidFill>
                <a:latin typeface="Aptos"/>
                <a:ea typeface="Aptos"/>
                <a:cs typeface="Aptos"/>
              </a:rPr>
              <a:t>NPC tasks give players practical goals during the climb. Completing tasks rewards currency that can be spent on better oxygen tanks, improved hand stamina, longer ropes, winch-based rope tools, radios and other climbing gadgets.</a:t>
            </a:r>
          </a:p>
        </p:txBody>
      </p:sp>
      <p:sp>
        <p:nvSpPr>
          <p:cNvPr id="7" name="">
            <a:extLst>
              <a:ext uri="{FF2B5EF4-FFF2-40B4-BE49-F238E27FC236}">
                <ns3:creationId id="{DD6DA6A5-C69E-43D1-9C07-4595C7C885E6}"/>
              </a:ext>
            </a:extLst>
          </p:cNvPr>
          <p:cNvSpPr>
            <a:spLocks noGrp="1"/>
          </p:cNvSpPr>
          <p:nvPr/>
        </p:nvSpPr>
        <p:spPr>
          <a:xfrm>
            <a:off x="590550" y="3752850"/>
            <a:ext cx="6572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40" b="0">
                <a:solidFill>
                  <a:srgbClr val="B6C8C7"/>
                </a:solidFill>
                <a:latin typeface="Aptos"/>
                <a:ea typeface="Aptos"/>
                <a:cs typeface="Aptos"/>
              </a:defRPr>
            </a:pPr>
            <a:r>
              <a:rPr sz="840" b="0">
                <a:solidFill>
                  <a:srgbClr val="B6C8C7"/>
                </a:solidFill>
                <a:latin typeface="Aptos"/>
                <a:ea typeface="Aptos"/>
                <a:cs typeface="Aptos"/>
              </a:rPr>
              <a:t>There is one main checkpoint in the middle of the mountain. It reduces frustration while preserving the feeling of one continuous climb.</a:t>
            </a:r>
          </a:p>
        </p:txBody>
      </p:sp>
      <p:pic>
        <p:nvPicPr>
          <p:cNvPr id="8" name=""/>
          <p:cNvPicPr>
            <a:picLocks noChangeAspect="1"/>
          </p:cNvPicPr>
          <p:nvPr/>
        </p:nvPicPr>
        <p:blipFill>
          <a:blip r:embed="Rdbb946ebe65c4abf"/>
          <a:srcRect l="8300" t="0" r="8300" b="0"/>
          <a:stretch>
            <a:fillRect l="0" t="0" r="0" b="0"/>
          </a:stretch>
        </p:blipFill>
        <p:spPr>
          <a:xfrm>
            <a:off x="7791450" y="1066800"/>
            <a:ext cx="3048000" cy="2038350"/>
          </a:xfrm>
          <a:prstGeom prst="rect">
            <a:avLst/>
          </a:prstGeom>
        </p:spPr>
      </p:pic>
      <p:sp>
        <p:nvSpPr>
          <p:cNvPr id="9" name="">
            <a:extLst>
              <a:ext uri="{FF2B5EF4-FFF2-40B4-BE49-F238E27FC236}">
                <ns3:creationId id="{5597F5E1-197A-47FB-A700-B003C84E774F}"/>
              </a:ext>
            </a:extLst>
          </p:cNvPr>
          <p:cNvSpPr>
            <a:spLocks noGrp="1"/>
          </p:cNvSpPr>
          <p:nvPr/>
        </p:nvSpPr>
        <p:spPr>
          <a:xfrm>
            <a:off x="7562850" y="3371850"/>
            <a:ext cx="3524250" cy="704850"/>
          </a:xfrm>
          <a:prstGeom prst="rect">
            <a:avLst/>
          </a:prstGeom>
          <a:solidFill>
            <a:srgbClr val="0D2229"/>
          </a:solidFill>
          <a:ln w="9525">
            <a:solidFill>
              <a:srgbClr val="2E4C55"/>
            </a:solidFill>
            <a:prstDash val="solid"/>
          </a:ln>
        </p:spPr>
      </p:sp>
      <p:sp>
        <p:nvSpPr>
          <p:cNvPr id="10" name="">
            <a:extLst>
              <a:ext uri="{FF2B5EF4-FFF2-40B4-BE49-F238E27FC236}">
                <ns3:creationId id="{011C6BE2-8318-4823-9E22-2BF9FCE97BBD}"/>
              </a:ext>
            </a:extLst>
          </p:cNvPr>
          <p:cNvSpPr>
            <a:spLocks noGrp="1"/>
          </p:cNvSpPr>
          <p:nvPr/>
        </p:nvSpPr>
        <p:spPr>
          <a:xfrm>
            <a:off x="7562850" y="3371850"/>
            <a:ext cx="3524250" cy="47625"/>
          </a:xfrm>
          <a:prstGeom prst="rect">
            <a:avLst/>
          </a:prstGeom>
          <a:solidFill>
            <a:srgbClr val="8ED17A"/>
          </a:solidFill>
          <a:ln w="0">
            <a:solidFill>
              <a:srgbClr val="000000">
                <a:alpha val="0"/>
              </a:srgbClr>
            </a:solidFill>
            <a:prstDash val="solid"/>
          </a:ln>
        </p:spPr>
      </p:sp>
      <p:sp>
        <p:nvSpPr>
          <p:cNvPr id="11" name="">
            <a:extLst>
              <a:ext uri="{FF2B5EF4-FFF2-40B4-BE49-F238E27FC236}">
                <ns3:creationId id="{2BA55185-C6CA-4572-BEE5-D0FE20E8B991}"/>
              </a:ext>
            </a:extLst>
          </p:cNvPr>
          <p:cNvSpPr>
            <a:spLocks noGrp="1"/>
          </p:cNvSpPr>
          <p:nvPr/>
        </p:nvSpPr>
        <p:spPr>
          <a:xfrm>
            <a:off x="7715250" y="3543300"/>
            <a:ext cx="3219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Route logic</a:t>
            </a:r>
          </a:p>
        </p:txBody>
      </p:sp>
      <p:sp>
        <p:nvSpPr>
          <p:cNvPr id="12" name="">
            <a:extLst>
              <a:ext uri="{FF2B5EF4-FFF2-40B4-BE49-F238E27FC236}">
                <ns3:creationId id="{7022C191-5148-4872-A685-6B88AD9DD82E}"/>
              </a:ext>
            </a:extLst>
          </p:cNvPr>
          <p:cNvSpPr>
            <a:spLocks noGrp="1"/>
          </p:cNvSpPr>
          <p:nvPr/>
        </p:nvSpPr>
        <p:spPr>
          <a:xfrm>
            <a:off x="7715250" y="3848100"/>
            <a:ext cx="32194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C8C7"/>
                </a:solidFill>
                <a:latin typeface="Aptos"/>
                <a:ea typeface="Aptos"/>
                <a:cs typeface="Aptos"/>
              </a:defRPr>
            </a:pPr>
            <a:r>
              <a:rPr sz="825" b="0">
                <a:solidFill>
                  <a:srgbClr val="B6C8C7"/>
                </a:solidFill>
                <a:latin typeface="Aptos"/>
                <a:ea typeface="Aptos"/>
                <a:cs typeface="Aptos"/>
              </a:rPr>
              <a:t>Base → route choice → middle checkpoint → summit push</a:t>
            </a:r>
          </a:p>
        </p:txBody>
      </p:sp>
      <p:sp>
        <p:nvSpPr>
          <p:cNvPr id="13" name="">
            <a:extLst>
              <a:ext uri="{FF2B5EF4-FFF2-40B4-BE49-F238E27FC236}">
                <ns3:creationId id="{1BCB10C9-5B5A-4C35-B8AA-CB824374EB04}"/>
              </a:ext>
            </a:extLst>
          </p:cNvPr>
          <p:cNvSpPr>
            <a:spLocks noGrp="1"/>
          </p:cNvSpPr>
          <p:nvPr/>
        </p:nvSpPr>
        <p:spPr>
          <a:xfrm>
            <a:off x="590550" y="4629150"/>
            <a:ext cx="8572500" cy="1257300"/>
          </a:xfrm>
          <a:prstGeom prst="rect">
            <a:avLst/>
          </a:prstGeom>
          <a:solidFill>
            <a:srgbClr val="0B2027"/>
          </a:solidFill>
          <a:ln w="9525">
            <a:solidFill>
              <a:srgbClr val="2D4A53"/>
            </a:solidFill>
            <a:prstDash val="solid"/>
          </a:ln>
        </p:spPr>
      </p:sp>
      <p:sp>
        <p:nvSpPr>
          <p:cNvPr id="14" name="">
            <a:extLst>
              <a:ext uri="{FF2B5EF4-FFF2-40B4-BE49-F238E27FC236}">
                <ns3:creationId id="{39E99297-A948-4A35-85C5-71251AB1256A}"/>
              </a:ext>
            </a:extLst>
          </p:cNvPr>
          <p:cNvSpPr>
            <a:spLocks noGrp="1"/>
          </p:cNvSpPr>
          <p:nvPr/>
        </p:nvSpPr>
        <p:spPr>
          <a:xfrm>
            <a:off x="800100" y="48196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5FAF8"/>
                </a:solidFill>
                <a:latin typeface="Aptos"/>
                <a:ea typeface="Aptos"/>
                <a:cs typeface="Aptos"/>
              </a:defRPr>
            </a:pPr>
            <a:r>
              <a:rPr sz="975" b="0">
                <a:solidFill>
                  <a:srgbClr val="F5FAF8"/>
                </a:solidFill>
                <a:latin typeface="Aptos"/>
                <a:ea typeface="Aptos"/>
                <a:cs typeface="Aptos"/>
              </a:rPr>
              <a:t>Quest examples</a:t>
            </a:r>
          </a:p>
        </p:txBody>
      </p:sp>
      <p:sp>
        <p:nvSpPr>
          <p:cNvPr id="15" name="">
            <a:extLst>
              <a:ext uri="{FF2B5EF4-FFF2-40B4-BE49-F238E27FC236}">
                <ns3:creationId id="{8D9E6431-3A8F-45A9-B0BA-F22C9ABBCD8B}"/>
              </a:ext>
            </a:extLst>
          </p:cNvPr>
          <p:cNvSpPr>
            <a:spLocks noGrp="1"/>
          </p:cNvSpPr>
          <p:nvPr/>
        </p:nvSpPr>
        <p:spPr>
          <a:xfrm>
            <a:off x="800100" y="5172075"/>
            <a:ext cx="47625" cy="47625"/>
          </a:xfrm>
          <a:prstGeom prst="rect">
            <a:avLst/>
          </a:prstGeom>
          <a:solidFill>
            <a:srgbClr val="FFB55A"/>
          </a:solidFill>
          <a:ln w="0">
            <a:solidFill>
              <a:srgbClr val="000000">
                <a:alpha val="0"/>
              </a:srgbClr>
            </a:solidFill>
            <a:prstDash val="solid"/>
          </a:ln>
        </p:spPr>
      </p:sp>
      <p:sp>
        <p:nvSpPr>
          <p:cNvPr id="16" name="">
            <a:extLst>
              <a:ext uri="{FF2B5EF4-FFF2-40B4-BE49-F238E27FC236}">
                <ns3:creationId id="{36EC7EB4-BC00-4DFA-BFE7-CB248D5E4338}"/>
              </a:ext>
            </a:extLst>
          </p:cNvPr>
          <p:cNvSpPr>
            <a:spLocks noGrp="1"/>
          </p:cNvSpPr>
          <p:nvPr/>
        </p:nvSpPr>
        <p:spPr>
          <a:xfrm>
            <a:off x="952500" y="5105400"/>
            <a:ext cx="7753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F5FAF8"/>
                </a:solidFill>
                <a:latin typeface="Aptos"/>
                <a:ea typeface="Aptos"/>
                <a:cs typeface="Aptos"/>
              </a:defRPr>
            </a:pPr>
            <a:r>
              <a:rPr sz="765" b="0">
                <a:solidFill>
                  <a:srgbClr val="F5FAF8"/>
                </a:solidFill>
                <a:latin typeface="Aptos"/>
                <a:ea typeface="Aptos"/>
                <a:cs typeface="Aptos"/>
              </a:rPr>
              <a:t>Deliver an oxygen tank to an intermediate camp</a:t>
            </a:r>
          </a:p>
        </p:txBody>
      </p:sp>
      <p:sp>
        <p:nvSpPr>
          <p:cNvPr id="17" name="">
            <a:extLst>
              <a:ext uri="{FF2B5EF4-FFF2-40B4-BE49-F238E27FC236}">
                <ns3:creationId id="{88876E3B-9707-4846-B480-EF6CB7E42864}"/>
              </a:ext>
            </a:extLst>
          </p:cNvPr>
          <p:cNvSpPr>
            <a:spLocks noGrp="1"/>
          </p:cNvSpPr>
          <p:nvPr/>
        </p:nvSpPr>
        <p:spPr>
          <a:xfrm>
            <a:off x="800100" y="5362575"/>
            <a:ext cx="47625" cy="47625"/>
          </a:xfrm>
          <a:prstGeom prst="rect">
            <a:avLst/>
          </a:prstGeom>
          <a:solidFill>
            <a:srgbClr val="FFB55A"/>
          </a:solidFill>
          <a:ln w="0">
            <a:solidFill>
              <a:srgbClr val="000000">
                <a:alpha val="0"/>
              </a:srgbClr>
            </a:solidFill>
            <a:prstDash val="solid"/>
          </a:ln>
        </p:spPr>
      </p:sp>
      <p:sp>
        <p:nvSpPr>
          <p:cNvPr id="18" name="">
            <a:extLst>
              <a:ext uri="{FF2B5EF4-FFF2-40B4-BE49-F238E27FC236}">
                <ns3:creationId id="{20049ADE-AAB1-4B06-9100-63FEBC906CC7}"/>
              </a:ext>
            </a:extLst>
          </p:cNvPr>
          <p:cNvSpPr>
            <a:spLocks noGrp="1"/>
          </p:cNvSpPr>
          <p:nvPr/>
        </p:nvSpPr>
        <p:spPr>
          <a:xfrm>
            <a:off x="952500" y="5295900"/>
            <a:ext cx="7753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F5FAF8"/>
                </a:solidFill>
                <a:latin typeface="Aptos"/>
                <a:ea typeface="Aptos"/>
                <a:cs typeface="Aptos"/>
              </a:defRPr>
            </a:pPr>
            <a:r>
              <a:rPr sz="765" b="0">
                <a:solidFill>
                  <a:srgbClr val="F5FAF8"/>
                </a:solidFill>
                <a:latin typeface="Aptos"/>
                <a:ea typeface="Aptos"/>
                <a:cs typeface="Aptos"/>
              </a:rPr>
              <a:t>Deliver supplies to a high-altitude tent camp</a:t>
            </a:r>
          </a:p>
        </p:txBody>
      </p:sp>
      <p:sp>
        <p:nvSpPr>
          <p:cNvPr id="19" name="">
            <a:extLst>
              <a:ext uri="{FF2B5EF4-FFF2-40B4-BE49-F238E27FC236}">
                <ns3:creationId id="{4913A0A2-C91F-444B-AC91-CD4656E40AB4}"/>
              </a:ext>
            </a:extLst>
          </p:cNvPr>
          <p:cNvSpPr>
            <a:spLocks noGrp="1"/>
          </p:cNvSpPr>
          <p:nvPr/>
        </p:nvSpPr>
        <p:spPr>
          <a:xfrm>
            <a:off x="800100" y="5553075"/>
            <a:ext cx="47625" cy="47625"/>
          </a:xfrm>
          <a:prstGeom prst="rect">
            <a:avLst/>
          </a:prstGeom>
          <a:solidFill>
            <a:srgbClr val="FFB55A"/>
          </a:solidFill>
          <a:ln w="0">
            <a:solidFill>
              <a:srgbClr val="000000">
                <a:alpha val="0"/>
              </a:srgbClr>
            </a:solidFill>
            <a:prstDash val="solid"/>
          </a:ln>
        </p:spPr>
      </p:sp>
      <p:sp>
        <p:nvSpPr>
          <p:cNvPr id="20" name="">
            <a:extLst>
              <a:ext uri="{FF2B5EF4-FFF2-40B4-BE49-F238E27FC236}">
                <ns3:creationId id="{37E20397-B5D6-476F-B74F-083C28AB5FC7}"/>
              </a:ext>
            </a:extLst>
          </p:cNvPr>
          <p:cNvSpPr>
            <a:spLocks noGrp="1"/>
          </p:cNvSpPr>
          <p:nvPr/>
        </p:nvSpPr>
        <p:spPr>
          <a:xfrm>
            <a:off x="952500" y="5486400"/>
            <a:ext cx="7753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F5FAF8"/>
                </a:solidFill>
                <a:latin typeface="Aptos"/>
                <a:ea typeface="Aptos"/>
                <a:cs typeface="Aptos"/>
              </a:defRPr>
            </a:pPr>
            <a:r>
              <a:rPr sz="765" b="0">
                <a:solidFill>
                  <a:srgbClr val="F5FAF8"/>
                </a:solidFill>
                <a:latin typeface="Aptos"/>
                <a:ea typeface="Aptos"/>
                <a:cs typeface="Aptos"/>
              </a:rPr>
              <a:t>Bring down an NPC suffering from altitude sickness</a:t>
            </a:r>
          </a:p>
        </p:txBody>
      </p:sp>
      <p:sp>
        <p:nvSpPr>
          <p:cNvPr id="21" name="">
            <a:extLst>
              <a:ext uri="{FF2B5EF4-FFF2-40B4-BE49-F238E27FC236}">
                <ns3:creationId id="{8DDB934F-361E-4AA2-AE87-12CF0872ACAA}"/>
              </a:ext>
            </a:extLst>
          </p:cNvPr>
          <p:cNvSpPr>
            <a:spLocks noGrp="1"/>
          </p:cNvSpPr>
          <p:nvPr/>
        </p:nvSpPr>
        <p:spPr>
          <a:xfrm>
            <a:off x="800100" y="5743575"/>
            <a:ext cx="47625" cy="47625"/>
          </a:xfrm>
          <a:prstGeom prst="rect">
            <a:avLst/>
          </a:prstGeom>
          <a:solidFill>
            <a:srgbClr val="FFB55A"/>
          </a:solidFill>
          <a:ln w="0">
            <a:solidFill>
              <a:srgbClr val="000000">
                <a:alpha val="0"/>
              </a:srgbClr>
            </a:solidFill>
            <a:prstDash val="solid"/>
          </a:ln>
        </p:spPr>
      </p:sp>
      <p:sp>
        <p:nvSpPr>
          <p:cNvPr id="22" name="">
            <a:extLst>
              <a:ext uri="{FF2B5EF4-FFF2-40B4-BE49-F238E27FC236}">
                <ns3:creationId id="{B3AC85AB-8EF4-42FB-8E8B-B0F82B05654E}"/>
              </a:ext>
            </a:extLst>
          </p:cNvPr>
          <p:cNvSpPr>
            <a:spLocks noGrp="1"/>
          </p:cNvSpPr>
          <p:nvPr/>
        </p:nvSpPr>
        <p:spPr>
          <a:xfrm>
            <a:off x="952500" y="5676900"/>
            <a:ext cx="7753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F5FAF8"/>
                </a:solidFill>
                <a:latin typeface="Aptos"/>
                <a:ea typeface="Aptos"/>
                <a:cs typeface="Aptos"/>
              </a:defRPr>
            </a:pPr>
            <a:r>
              <a:rPr sz="765" b="0">
                <a:solidFill>
                  <a:srgbClr val="F5FAF8"/>
                </a:solidFill>
                <a:latin typeface="Aptos"/>
                <a:ea typeface="Aptos"/>
                <a:cs typeface="Aptos"/>
              </a:rPr>
              <a:t>Evacuate climbers stranded on the route</a:t>
            </a:r>
          </a:p>
        </p:txBody>
      </p:sp>
      <p:sp>
        <p:nvSpPr>
          <p:cNvPr id="23" name="">
            <a:extLst>
              <a:ext uri="{FF2B5EF4-FFF2-40B4-BE49-F238E27FC236}">
                <ns3:creationId id="{04B43667-F8E1-4EEF-AE55-B6CD4A3F9163}"/>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24" name="">
            <a:extLst>
              <a:ext uri="{FF2B5EF4-FFF2-40B4-BE49-F238E27FC236}">
                <ns3:creationId id="{4AE6B8EF-78AB-4132-ADF3-C0E11F391E26}"/>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04</a:t>
            </a:r>
          </a:p>
        </p:txBody>
      </p:sp>
    </p:spTree>
    <p:extLst>
      <p:ext uri="{BB962C8B-B14F-4D97-AF65-F5344CB8AC3E}">
        <ns4:creationId val="801397586"/>
      </p:ext>
    </p:extLst>
  </p:cSld>
</p:sld>
</file>

<file path=ppt/slides/slide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41" name="Berg alternating background 5"/>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961A8A74-CCAE-4249-AD38-30F9C5840847}"/>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
            <a:extLst>
              <a:ext uri="{FF2B5EF4-FFF2-40B4-BE49-F238E27FC236}">
                <ns3:creationId id="{FA11473A-F47C-43FD-A352-B16286B1AB09}"/>
              </a:ext>
            </a:extLst>
          </p:cNvPr>
          <p:cNvSpPr>
            <a:spLocks noGrp="1"/>
          </p:cNvSpPr>
          <p:nvPr/>
        </p:nvSpPr>
        <p:spPr>
          <a:xfrm>
            <a:off x="0" y="0"/>
            <a:ext cx="12192000" cy="838200"/>
          </a:xfrm>
          <a:prstGeom prst="rect">
            <a:avLst/>
          </a:prstGeom>
          <a:solidFill>
            <a:srgbClr val="0B1B20"/>
          </a:solidFill>
          <a:ln w="0">
            <a:solidFill>
              <a:srgbClr val="000000">
                <a:alpha val="0"/>
              </a:srgbClr>
            </a:solidFill>
            <a:prstDash val="solid"/>
          </a:ln>
        </p:spPr>
      </p:sp>
      <p:sp>
        <p:nvSpPr>
          <p:cNvPr id="3" name="">
            <a:extLst>
              <a:ext uri="{FF2B5EF4-FFF2-40B4-BE49-F238E27FC236}">
                <ns3:creationId id="{2B6755EC-7A3D-43E9-A698-1887CD3A291F}"/>
              </a:ext>
            </a:extLst>
          </p:cNvPr>
          <p:cNvSpPr>
            <a:spLocks noGrp="1"/>
          </p:cNvSpPr>
          <p:nvPr/>
        </p:nvSpPr>
        <p:spPr>
          <a:xfrm>
            <a:off x="0" y="6400800"/>
            <a:ext cx="12192000" cy="457200"/>
          </a:xfrm>
          <a:prstGeom prst="rect">
            <a:avLst/>
          </a:prstGeom>
          <a:solidFill>
            <a:srgbClr val="061015"/>
          </a:solidFill>
          <a:ln w="0">
            <a:solidFill>
              <a:srgbClr val="000000">
                <a:alpha val="0"/>
              </a:srgbClr>
            </a:solidFill>
            <a:prstDash val="solid"/>
          </a:ln>
        </p:spPr>
      </p:sp>
      <p:sp>
        <p:nvSpPr>
          <p:cNvPr id="4" name="">
            <a:extLst>
              <a:ext uri="{FF2B5EF4-FFF2-40B4-BE49-F238E27FC236}">
                <ns3:creationId id="{11B2142A-0CB0-4D35-8835-ED8EE74EC3FA}"/>
              </a:ext>
            </a:extLst>
          </p:cNvPr>
          <p:cNvSpPr>
            <a:spLocks noGrp="1"/>
          </p:cNvSpPr>
          <p:nvPr/>
        </p:nvSpPr>
        <p:spPr>
          <a:xfrm>
            <a:off x="552450" y="838200"/>
            <a:ext cx="11087100" cy="9525"/>
          </a:xfrm>
          <a:prstGeom prst="rect">
            <a:avLst/>
          </a:prstGeom>
          <a:solidFill>
            <a:srgbClr val="203C45"/>
          </a:solidFill>
          <a:ln w="0">
            <a:solidFill>
              <a:srgbClr val="000000">
                <a:alpha val="0"/>
              </a:srgbClr>
            </a:solidFill>
            <a:prstDash val="solid"/>
          </a:ln>
        </p:spPr>
      </p:sp>
      <p:sp>
        <p:nvSpPr>
          <p:cNvPr id="5" name="kicker-05-marker">
            <a:extLst>
              <a:ext uri="{FF2B5EF4-FFF2-40B4-BE49-F238E27FC236}">
                <ns3:creationId id="{6F2CA7C4-E5A9-4102-BCB7-18B9FFBB3C4F}"/>
              </a:ext>
            </a:extLst>
          </p:cNvPr>
          <p:cNvSpPr>
            <a:spLocks noGrp="1"/>
          </p:cNvSpPr>
          <p:nvPr/>
        </p:nvSpPr>
        <p:spPr>
          <a:xfrm>
            <a:off x="552450" y="514350"/>
            <a:ext cx="76200" cy="76200"/>
          </a:xfrm>
          <a:prstGeom prst="rect">
            <a:avLst/>
          </a:prstGeom>
          <a:solidFill>
            <a:srgbClr val="FFB55A"/>
          </a:solidFill>
          <a:ln w="0">
            <a:solidFill>
              <a:srgbClr val="000000">
                <a:alpha val="0"/>
              </a:srgbClr>
            </a:solidFill>
            <a:prstDash val="solid"/>
          </a:ln>
        </p:spPr>
      </p:sp>
      <p:sp>
        <p:nvSpPr>
          <p:cNvPr id="6" name="kicker-05-label">
            <a:extLst>
              <a:ext uri="{FF2B5EF4-FFF2-40B4-BE49-F238E27FC236}">
                <ns3:creationId id="{1C34A5E8-F426-4EB5-905E-41DA3C4F68B4}"/>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SIMULATION PILLARS</a:t>
            </a:r>
          </a:p>
        </p:txBody>
      </p:sp>
      <p:sp>
        <p:nvSpPr>
          <p:cNvPr id="7" name="">
            <a:extLst>
              <a:ext uri="{FF2B5EF4-FFF2-40B4-BE49-F238E27FC236}">
                <ns3:creationId id="{6214E63A-B9C6-4FC3-831C-E8CBCDBE901A}"/>
              </a:ext>
            </a:extLst>
          </p:cNvPr>
          <p:cNvSpPr>
            <a:spLocks noGrp="1"/>
          </p:cNvSpPr>
          <p:nvPr/>
        </p:nvSpPr>
        <p:spPr>
          <a:xfrm>
            <a:off x="552450" y="990600"/>
            <a:ext cx="7810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Realism is expressed through readable gameplay systems.</a:t>
            </a:r>
          </a:p>
        </p:txBody>
      </p:sp>
      <p:sp>
        <p:nvSpPr>
          <p:cNvPr id="8" name="">
            <a:extLst>
              <a:ext uri="{FF2B5EF4-FFF2-40B4-BE49-F238E27FC236}">
                <ns3:creationId id="{C7B5884C-A468-4807-A71B-14E3A5589775}"/>
              </a:ext>
            </a:extLst>
          </p:cNvPr>
          <p:cNvSpPr>
            <a:spLocks noGrp="1"/>
          </p:cNvSpPr>
          <p:nvPr/>
        </p:nvSpPr>
        <p:spPr>
          <a:xfrm>
            <a:off x="590550" y="1885950"/>
            <a:ext cx="89535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15" b="0">
                <a:solidFill>
                  <a:srgbClr val="B6C8C7"/>
                </a:solidFill>
                <a:latin typeface="Aptos"/>
                <a:ea typeface="Aptos"/>
                <a:cs typeface="Aptos"/>
              </a:defRPr>
            </a:pPr>
            <a:r>
              <a:rPr sz="915" b="0">
                <a:solidFill>
                  <a:srgbClr val="B6C8C7"/>
                </a:solidFill>
                <a:latin typeface="Aptos"/>
                <a:ea typeface="Aptos"/>
                <a:cs typeface="Aptos"/>
              </a:rPr>
              <a:t>BERG should feel grounded and atmospheric without becoming a hardcore climbing simulator. The player has a clear HUD for important survival and movement indicators, while the mountain systems directly affect moment-to-moment decisions.</a:t>
            </a:r>
          </a:p>
        </p:txBody>
      </p:sp>
      <p:sp>
        <p:nvSpPr>
          <p:cNvPr id="9" name="">
            <a:extLst>
              <a:ext uri="{FF2B5EF4-FFF2-40B4-BE49-F238E27FC236}">
                <ns3:creationId id="{99DCF4EA-DF3B-4827-9B19-2C69CE720FEA}"/>
              </a:ext>
            </a:extLst>
          </p:cNvPr>
          <p:cNvSpPr>
            <a:spLocks noGrp="1"/>
          </p:cNvSpPr>
          <p:nvPr/>
        </p:nvSpPr>
        <p:spPr>
          <a:xfrm>
            <a:off x="552450" y="2762250"/>
            <a:ext cx="10325100" cy="3400425"/>
          </a:xfrm>
          <a:prstGeom prst="rect">
            <a:avLst/>
          </a:prstGeom>
          <a:solidFill>
            <a:srgbClr val="0A2027"/>
          </a:solidFill>
          <a:ln w="9525">
            <a:solidFill>
              <a:srgbClr val="2D4A53"/>
            </a:solidFill>
            <a:prstDash val="solid"/>
          </a:ln>
        </p:spPr>
      </p:sp>
      <p:sp>
        <p:nvSpPr>
          <p:cNvPr id="10" name="">
            <a:extLst>
              <a:ext uri="{FF2B5EF4-FFF2-40B4-BE49-F238E27FC236}">
                <ns3:creationId id="{80E83D1F-05FE-480C-97C3-4857E3C357EA}"/>
              </a:ext>
            </a:extLst>
          </p:cNvPr>
          <p:cNvSpPr>
            <a:spLocks noGrp="1"/>
          </p:cNvSpPr>
          <p:nvPr/>
        </p:nvSpPr>
        <p:spPr>
          <a:xfrm>
            <a:off x="647700" y="2857500"/>
            <a:ext cx="2000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88" b="1">
                <a:solidFill>
                  <a:srgbClr val="78929A"/>
                </a:solidFill>
                <a:latin typeface="Aptos Mono"/>
                <a:ea typeface="Aptos Mono"/>
                <a:cs typeface="Aptos Mono"/>
              </a:defRPr>
            </a:pPr>
            <a:r>
              <a:rPr sz="488" b="1">
                <a:solidFill>
                  <a:srgbClr val="78929A"/>
                </a:solidFill>
                <a:latin typeface="Aptos Mono"/>
                <a:ea typeface="Aptos Mono"/>
                <a:cs typeface="Aptos Mono"/>
              </a:rPr>
              <a:t>SYSTEM</a:t>
            </a:r>
          </a:p>
        </p:txBody>
      </p:sp>
      <p:sp>
        <p:nvSpPr>
          <p:cNvPr id="11" name="">
            <a:extLst>
              <a:ext uri="{FF2B5EF4-FFF2-40B4-BE49-F238E27FC236}">
                <ns3:creationId id="{C6588D60-1AE0-4786-A2E8-38B83D84EA0B}"/>
              </a:ext>
            </a:extLst>
          </p:cNvPr>
          <p:cNvSpPr>
            <a:spLocks noGrp="1"/>
          </p:cNvSpPr>
          <p:nvPr/>
        </p:nvSpPr>
        <p:spPr>
          <a:xfrm>
            <a:off x="2838450" y="2857500"/>
            <a:ext cx="3238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488" b="1">
                <a:solidFill>
                  <a:srgbClr val="78929A"/>
                </a:solidFill>
                <a:latin typeface="Aptos Mono"/>
                <a:ea typeface="Aptos Mono"/>
                <a:cs typeface="Aptos Mono"/>
              </a:defRPr>
            </a:pPr>
            <a:r>
              <a:rPr sz="488" b="1">
                <a:solidFill>
                  <a:srgbClr val="78929A"/>
                </a:solidFill>
                <a:latin typeface="Aptos Mono"/>
                <a:ea typeface="Aptos Mono"/>
                <a:cs typeface="Aptos Mono"/>
              </a:rPr>
              <a:t>PLAYER-FACING INFORMATION</a:t>
            </a:r>
          </a:p>
        </p:txBody>
      </p:sp>
      <p:sp>
        <p:nvSpPr>
          <p:cNvPr id="12" name="">
            <a:extLst>
              <a:ext uri="{FF2B5EF4-FFF2-40B4-BE49-F238E27FC236}">
                <ns3:creationId id="{4BA764B8-D591-4301-B0A8-4BC625FF58BF}"/>
              </a:ext>
            </a:extLst>
          </p:cNvPr>
          <p:cNvSpPr>
            <a:spLocks noGrp="1"/>
          </p:cNvSpPr>
          <p:nvPr/>
        </p:nvSpPr>
        <p:spPr>
          <a:xfrm>
            <a:off x="2743200" y="2762250"/>
            <a:ext cx="9525" cy="3400425"/>
          </a:xfrm>
          <a:prstGeom prst="rect">
            <a:avLst/>
          </a:prstGeom>
          <a:solidFill>
            <a:srgbClr val="25434C"/>
          </a:solidFill>
          <a:ln w="0">
            <a:solidFill>
              <a:srgbClr val="000000">
                <a:alpha val="0"/>
              </a:srgbClr>
            </a:solidFill>
            <a:prstDash val="solid"/>
          </a:ln>
        </p:spPr>
      </p:sp>
      <p:sp>
        <p:nvSpPr>
          <p:cNvPr id="13" name="">
            <a:extLst>
              <a:ext uri="{FF2B5EF4-FFF2-40B4-BE49-F238E27FC236}">
                <ns3:creationId id="{9114D466-92A6-4AFF-AF58-8CF85F003FB2}"/>
              </a:ext>
            </a:extLst>
          </p:cNvPr>
          <p:cNvSpPr>
            <a:spLocks noGrp="1"/>
          </p:cNvSpPr>
          <p:nvPr/>
        </p:nvSpPr>
        <p:spPr>
          <a:xfrm>
            <a:off x="6267450" y="2857500"/>
            <a:ext cx="45148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488" b="1">
                <a:solidFill>
                  <a:srgbClr val="78929A"/>
                </a:solidFill>
                <a:latin typeface="Aptos Mono"/>
                <a:ea typeface="Aptos Mono"/>
                <a:cs typeface="Aptos Mono"/>
              </a:defRPr>
            </a:pPr>
            <a:r>
              <a:rPr sz="488" b="1">
                <a:solidFill>
                  <a:srgbClr val="78929A"/>
                </a:solidFill>
                <a:latin typeface="Aptos Mono"/>
                <a:ea typeface="Aptos Mono"/>
                <a:cs typeface="Aptos Mono"/>
              </a:rPr>
              <a:t>GAMEPLAY EFFECT</a:t>
            </a:r>
          </a:p>
        </p:txBody>
      </p:sp>
      <p:sp>
        <p:nvSpPr>
          <p:cNvPr id="14" name="">
            <a:extLst>
              <a:ext uri="{FF2B5EF4-FFF2-40B4-BE49-F238E27FC236}">
                <ns3:creationId id="{54FAABBB-D748-4F76-8444-C9A7FC4E436E}"/>
              </a:ext>
            </a:extLst>
          </p:cNvPr>
          <p:cNvSpPr>
            <a:spLocks noGrp="1"/>
          </p:cNvSpPr>
          <p:nvPr/>
        </p:nvSpPr>
        <p:spPr>
          <a:xfrm>
            <a:off x="6172200" y="2762250"/>
            <a:ext cx="9525" cy="3400425"/>
          </a:xfrm>
          <a:prstGeom prst="rect">
            <a:avLst/>
          </a:prstGeom>
          <a:solidFill>
            <a:srgbClr val="25434C"/>
          </a:solidFill>
          <a:ln w="0">
            <a:solidFill>
              <a:srgbClr val="000000">
                <a:alpha val="0"/>
              </a:srgbClr>
            </a:solidFill>
            <a:prstDash val="solid"/>
          </a:ln>
        </p:spPr>
      </p:sp>
      <p:sp>
        <p:nvSpPr>
          <p:cNvPr id="15" name="">
            <a:extLst>
              <a:ext uri="{FF2B5EF4-FFF2-40B4-BE49-F238E27FC236}">
                <ns3:creationId id="{F40868F5-6BA2-4E9E-AE4A-DFF5A8482AE2}"/>
              </a:ext>
            </a:extLst>
          </p:cNvPr>
          <p:cNvSpPr>
            <a:spLocks noGrp="1"/>
          </p:cNvSpPr>
          <p:nvPr/>
        </p:nvSpPr>
        <p:spPr>
          <a:xfrm>
            <a:off x="552450" y="3248025"/>
            <a:ext cx="10325100" cy="9525"/>
          </a:xfrm>
          <a:prstGeom prst="rect">
            <a:avLst/>
          </a:prstGeom>
          <a:solidFill>
            <a:srgbClr val="2D4A53"/>
          </a:solidFill>
          <a:ln w="0">
            <a:solidFill>
              <a:srgbClr val="000000">
                <a:alpha val="0"/>
              </a:srgbClr>
            </a:solidFill>
            <a:prstDash val="solid"/>
          </a:ln>
        </p:spPr>
      </p:sp>
      <p:sp>
        <p:nvSpPr>
          <p:cNvPr id="16" name="">
            <a:extLst>
              <a:ext uri="{FF2B5EF4-FFF2-40B4-BE49-F238E27FC236}">
                <ns3:creationId id="{8F6F1555-99DB-480A-A784-FA4EE764983F}"/>
              </a:ext>
            </a:extLst>
          </p:cNvPr>
          <p:cNvSpPr>
            <a:spLocks noGrp="1"/>
          </p:cNvSpPr>
          <p:nvPr/>
        </p:nvSpPr>
        <p:spPr>
          <a:xfrm>
            <a:off x="647700" y="3333750"/>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Wind speed / direction</a:t>
            </a:r>
          </a:p>
        </p:txBody>
      </p:sp>
      <p:sp>
        <p:nvSpPr>
          <p:cNvPr id="17" name="">
            <a:extLst>
              <a:ext uri="{FF2B5EF4-FFF2-40B4-BE49-F238E27FC236}">
                <ns3:creationId id="{A83DD52B-F3E5-4466-A537-BCE652D679C9}"/>
              </a:ext>
            </a:extLst>
          </p:cNvPr>
          <p:cNvSpPr>
            <a:spLocks noGrp="1"/>
          </p:cNvSpPr>
          <p:nvPr/>
        </p:nvSpPr>
        <p:spPr>
          <a:xfrm>
            <a:off x="2838450" y="3333750"/>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Wind strength, direction and exposed route sections</a:t>
            </a:r>
          </a:p>
        </p:txBody>
      </p:sp>
      <p:sp>
        <p:nvSpPr>
          <p:cNvPr id="18" name="">
            <a:extLst>
              <a:ext uri="{FF2B5EF4-FFF2-40B4-BE49-F238E27FC236}">
                <ns3:creationId id="{7F58E12E-27F1-4E69-93F3-DFE5D52470BA}"/>
              </a:ext>
            </a:extLst>
          </p:cNvPr>
          <p:cNvSpPr>
            <a:spLocks noGrp="1"/>
          </p:cNvSpPr>
          <p:nvPr/>
        </p:nvSpPr>
        <p:spPr>
          <a:xfrm>
            <a:off x="6267450" y="3333750"/>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Pushes players sideways, makes some sections harder and can increase fall risk</a:t>
            </a:r>
          </a:p>
        </p:txBody>
      </p:sp>
      <p:sp>
        <p:nvSpPr>
          <p:cNvPr id="19" name="">
            <a:extLst>
              <a:ext uri="{FF2B5EF4-FFF2-40B4-BE49-F238E27FC236}">
                <ns3:creationId id="{23A50DA5-98ED-42F5-8F53-462EB20F7810}"/>
              </a:ext>
            </a:extLst>
          </p:cNvPr>
          <p:cNvSpPr>
            <a:spLocks noGrp="1"/>
          </p:cNvSpPr>
          <p:nvPr/>
        </p:nvSpPr>
        <p:spPr>
          <a:xfrm>
            <a:off x="552450" y="3733800"/>
            <a:ext cx="10325100" cy="9525"/>
          </a:xfrm>
          <a:prstGeom prst="rect">
            <a:avLst/>
          </a:prstGeom>
          <a:solidFill>
            <a:srgbClr val="1D3841"/>
          </a:solidFill>
          <a:ln w="0">
            <a:solidFill>
              <a:srgbClr val="000000">
                <a:alpha val="0"/>
              </a:srgbClr>
            </a:solidFill>
            <a:prstDash val="solid"/>
          </a:ln>
        </p:spPr>
      </p:sp>
      <p:sp>
        <p:nvSpPr>
          <p:cNvPr id="20" name="">
            <a:extLst>
              <a:ext uri="{FF2B5EF4-FFF2-40B4-BE49-F238E27FC236}">
                <ns3:creationId id="{8D8743F4-CD67-436E-8093-46B068BA19EA}"/>
              </a:ext>
            </a:extLst>
          </p:cNvPr>
          <p:cNvSpPr>
            <a:spLocks noGrp="1"/>
          </p:cNvSpPr>
          <p:nvPr/>
        </p:nvSpPr>
        <p:spPr>
          <a:xfrm>
            <a:off x="647700" y="3819525"/>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Cold and snow</a:t>
            </a:r>
          </a:p>
        </p:txBody>
      </p:sp>
      <p:sp>
        <p:nvSpPr>
          <p:cNvPr id="21" name="">
            <a:extLst>
              <a:ext uri="{FF2B5EF4-FFF2-40B4-BE49-F238E27FC236}">
                <ns3:creationId id="{7415A118-B3EC-4C61-A76C-A6E0FF33B4D0}"/>
              </a:ext>
            </a:extLst>
          </p:cNvPr>
          <p:cNvSpPr>
            <a:spLocks noGrp="1"/>
          </p:cNvSpPr>
          <p:nvPr/>
        </p:nvSpPr>
        <p:spPr>
          <a:xfrm>
            <a:off x="2838450" y="3819525"/>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Temperature drop, snowstorm intensity and exposure</a:t>
            </a:r>
          </a:p>
        </p:txBody>
      </p:sp>
      <p:sp>
        <p:nvSpPr>
          <p:cNvPr id="22" name="">
            <a:extLst>
              <a:ext uri="{FF2B5EF4-FFF2-40B4-BE49-F238E27FC236}">
                <ns3:creationId id="{4B42FC35-6A65-4F71-B4BE-E5ECAA5E1E54}"/>
              </a:ext>
            </a:extLst>
          </p:cNvPr>
          <p:cNvSpPr>
            <a:spLocks noGrp="1"/>
          </p:cNvSpPr>
          <p:nvPr/>
        </p:nvSpPr>
        <p:spPr>
          <a:xfrm>
            <a:off x="6267450" y="3819525"/>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Slows movement, increases pressure to rest or reach shelter</a:t>
            </a:r>
          </a:p>
        </p:txBody>
      </p:sp>
      <p:sp>
        <p:nvSpPr>
          <p:cNvPr id="23" name="">
            <a:extLst>
              <a:ext uri="{FF2B5EF4-FFF2-40B4-BE49-F238E27FC236}">
                <ns3:creationId id="{4724BDBB-4E57-4A5F-92A4-C31F33DA0FFB}"/>
              </a:ext>
            </a:extLst>
          </p:cNvPr>
          <p:cNvSpPr>
            <a:spLocks noGrp="1"/>
          </p:cNvSpPr>
          <p:nvPr/>
        </p:nvSpPr>
        <p:spPr>
          <a:xfrm>
            <a:off x="552450" y="4219575"/>
            <a:ext cx="10325100" cy="9525"/>
          </a:xfrm>
          <a:prstGeom prst="rect">
            <a:avLst/>
          </a:prstGeom>
          <a:solidFill>
            <a:srgbClr val="1D3841"/>
          </a:solidFill>
          <a:ln w="0">
            <a:solidFill>
              <a:srgbClr val="000000">
                <a:alpha val="0"/>
              </a:srgbClr>
            </a:solidFill>
            <a:prstDash val="solid"/>
          </a:ln>
        </p:spPr>
      </p:sp>
      <p:sp>
        <p:nvSpPr>
          <p:cNvPr id="24" name="">
            <a:extLst>
              <a:ext uri="{FF2B5EF4-FFF2-40B4-BE49-F238E27FC236}">
                <ns3:creationId id="{65B02D3C-5BDB-4851-8B14-D371D5DE7433}"/>
              </a:ext>
            </a:extLst>
          </p:cNvPr>
          <p:cNvSpPr>
            <a:spLocks noGrp="1"/>
          </p:cNvSpPr>
          <p:nvPr/>
        </p:nvSpPr>
        <p:spPr>
          <a:xfrm>
            <a:off x="647700" y="4305300"/>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Snowstorm visibility</a:t>
            </a:r>
          </a:p>
        </p:txBody>
      </p:sp>
      <p:sp>
        <p:nvSpPr>
          <p:cNvPr id="25" name="">
            <a:extLst>
              <a:ext uri="{FF2B5EF4-FFF2-40B4-BE49-F238E27FC236}">
                <ns3:creationId id="{831CBA60-5129-47B6-AF88-39C1E23A04AD}"/>
              </a:ext>
            </a:extLst>
          </p:cNvPr>
          <p:cNvSpPr>
            <a:spLocks noGrp="1"/>
          </p:cNvSpPr>
          <p:nvPr/>
        </p:nvSpPr>
        <p:spPr>
          <a:xfrm>
            <a:off x="2838450" y="4305300"/>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Reduced visibility in bad weather</a:t>
            </a:r>
          </a:p>
        </p:txBody>
      </p:sp>
      <p:sp>
        <p:nvSpPr>
          <p:cNvPr id="26" name="">
            <a:extLst>
              <a:ext uri="{FF2B5EF4-FFF2-40B4-BE49-F238E27FC236}">
                <ns3:creationId id="{8EA496A9-FDD3-46A7-9FA8-45C5F63BB559}"/>
              </a:ext>
            </a:extLst>
          </p:cNvPr>
          <p:cNvSpPr>
            <a:spLocks noGrp="1"/>
          </p:cNvSpPr>
          <p:nvPr/>
        </p:nvSpPr>
        <p:spPr>
          <a:xfrm>
            <a:off x="6267450" y="4305300"/>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Players can lose sight of teammates and must communicate to regroup</a:t>
            </a:r>
          </a:p>
        </p:txBody>
      </p:sp>
      <p:sp>
        <p:nvSpPr>
          <p:cNvPr id="27" name="">
            <a:extLst>
              <a:ext uri="{FF2B5EF4-FFF2-40B4-BE49-F238E27FC236}">
                <ns3:creationId id="{4B1ACCA1-8072-47D1-ADDC-879E8C60D761}"/>
              </a:ext>
            </a:extLst>
          </p:cNvPr>
          <p:cNvSpPr>
            <a:spLocks noGrp="1"/>
          </p:cNvSpPr>
          <p:nvPr/>
        </p:nvSpPr>
        <p:spPr>
          <a:xfrm>
            <a:off x="552450" y="4705350"/>
            <a:ext cx="10325100" cy="9525"/>
          </a:xfrm>
          <a:prstGeom prst="rect">
            <a:avLst/>
          </a:prstGeom>
          <a:solidFill>
            <a:srgbClr val="1D3841"/>
          </a:solidFill>
          <a:ln w="0">
            <a:solidFill>
              <a:srgbClr val="000000">
                <a:alpha val="0"/>
              </a:srgbClr>
            </a:solidFill>
            <a:prstDash val="solid"/>
          </a:ln>
        </p:spPr>
      </p:sp>
      <p:sp>
        <p:nvSpPr>
          <p:cNvPr id="28" name="">
            <a:extLst>
              <a:ext uri="{FF2B5EF4-FFF2-40B4-BE49-F238E27FC236}">
                <ns3:creationId id="{9A1A026B-3245-4B3D-9087-C8C97D326E54}"/>
              </a:ext>
            </a:extLst>
          </p:cNvPr>
          <p:cNvSpPr>
            <a:spLocks noGrp="1"/>
          </p:cNvSpPr>
          <p:nvPr/>
        </p:nvSpPr>
        <p:spPr>
          <a:xfrm>
            <a:off x="647700" y="4791075"/>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Voice distance</a:t>
            </a:r>
          </a:p>
        </p:txBody>
      </p:sp>
      <p:sp>
        <p:nvSpPr>
          <p:cNvPr id="29" name="">
            <a:extLst>
              <a:ext uri="{FF2B5EF4-FFF2-40B4-BE49-F238E27FC236}">
                <ns3:creationId id="{9381613D-3EFB-41A7-A2AE-F7BD7486B609}"/>
              </a:ext>
            </a:extLst>
          </p:cNvPr>
          <p:cNvSpPr>
            <a:spLocks noGrp="1"/>
          </p:cNvSpPr>
          <p:nvPr/>
        </p:nvSpPr>
        <p:spPr>
          <a:xfrm>
            <a:off x="2838450" y="4791075"/>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Proximity voice affected by distance and weather</a:t>
            </a:r>
          </a:p>
        </p:txBody>
      </p:sp>
      <p:sp>
        <p:nvSpPr>
          <p:cNvPr id="30" name="">
            <a:extLst>
              <a:ext uri="{FF2B5EF4-FFF2-40B4-BE49-F238E27FC236}">
                <ns3:creationId id="{3A6AC628-8439-416B-9B0C-AFC56D6CA243}"/>
              </a:ext>
            </a:extLst>
          </p:cNvPr>
          <p:cNvSpPr>
            <a:spLocks noGrp="1"/>
          </p:cNvSpPr>
          <p:nvPr/>
        </p:nvSpPr>
        <p:spPr>
          <a:xfrm>
            <a:off x="6267450" y="4791075"/>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Strong wind and snowstorms make communication harder</a:t>
            </a:r>
          </a:p>
        </p:txBody>
      </p:sp>
      <p:sp>
        <p:nvSpPr>
          <p:cNvPr id="31" name="">
            <a:extLst>
              <a:ext uri="{FF2B5EF4-FFF2-40B4-BE49-F238E27FC236}">
                <ns3:creationId id="{F91A71D1-6402-40CD-A819-41B933B606E6}"/>
              </a:ext>
            </a:extLst>
          </p:cNvPr>
          <p:cNvSpPr>
            <a:spLocks noGrp="1"/>
          </p:cNvSpPr>
          <p:nvPr/>
        </p:nvSpPr>
        <p:spPr>
          <a:xfrm>
            <a:off x="552450" y="5191125"/>
            <a:ext cx="10325100" cy="9525"/>
          </a:xfrm>
          <a:prstGeom prst="rect">
            <a:avLst/>
          </a:prstGeom>
          <a:solidFill>
            <a:srgbClr val="1D3841"/>
          </a:solidFill>
          <a:ln w="0">
            <a:solidFill>
              <a:srgbClr val="000000">
                <a:alpha val="0"/>
              </a:srgbClr>
            </a:solidFill>
            <a:prstDash val="solid"/>
          </a:ln>
        </p:spPr>
      </p:sp>
      <p:sp>
        <p:nvSpPr>
          <p:cNvPr id="32" name="">
            <a:extLst>
              <a:ext uri="{FF2B5EF4-FFF2-40B4-BE49-F238E27FC236}">
                <ns3:creationId id="{09B5C6F7-70A0-469E-8642-E5612EF03370}"/>
              </a:ext>
            </a:extLst>
          </p:cNvPr>
          <p:cNvSpPr>
            <a:spLocks noGrp="1"/>
          </p:cNvSpPr>
          <p:nvPr/>
        </p:nvSpPr>
        <p:spPr>
          <a:xfrm>
            <a:off x="647700" y="5276850"/>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Oxygen</a:t>
            </a:r>
          </a:p>
        </p:txBody>
      </p:sp>
      <p:sp>
        <p:nvSpPr>
          <p:cNvPr id="33" name="">
            <a:extLst>
              <a:ext uri="{FF2B5EF4-FFF2-40B4-BE49-F238E27FC236}">
                <ns3:creationId id="{5DAE0098-077F-4782-A1B3-5D3E195779B7}"/>
              </a:ext>
            </a:extLst>
          </p:cNvPr>
          <p:cNvSpPr>
            <a:spLocks noGrp="1"/>
          </p:cNvSpPr>
          <p:nvPr/>
        </p:nvSpPr>
        <p:spPr>
          <a:xfrm>
            <a:off x="2838450" y="5276850"/>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Tank amount and thin-air pressure</a:t>
            </a:r>
          </a:p>
        </p:txBody>
      </p:sp>
      <p:sp>
        <p:nvSpPr>
          <p:cNvPr id="34" name="">
            <a:extLst>
              <a:ext uri="{FF2B5EF4-FFF2-40B4-BE49-F238E27FC236}">
                <ns3:creationId id="{C2A2FC46-AF94-4B3A-90A7-08905C29DCBD}"/>
              </a:ext>
            </a:extLst>
          </p:cNvPr>
          <p:cNvSpPr>
            <a:spLocks noGrp="1"/>
          </p:cNvSpPr>
          <p:nvPr/>
        </p:nvSpPr>
        <p:spPr>
          <a:xfrm>
            <a:off x="6267450" y="5276850"/>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Lower oxygen makes stamina drain faster during vertical climbs</a:t>
            </a:r>
          </a:p>
        </p:txBody>
      </p:sp>
      <p:sp>
        <p:nvSpPr>
          <p:cNvPr id="35" name="">
            <a:extLst>
              <a:ext uri="{FF2B5EF4-FFF2-40B4-BE49-F238E27FC236}">
                <ns3:creationId id="{8E3FA19C-8269-4A71-AC3C-53E42885D968}"/>
              </a:ext>
            </a:extLst>
          </p:cNvPr>
          <p:cNvSpPr>
            <a:spLocks noGrp="1"/>
          </p:cNvSpPr>
          <p:nvPr/>
        </p:nvSpPr>
        <p:spPr>
          <a:xfrm>
            <a:off x="552450" y="5676900"/>
            <a:ext cx="10325100" cy="9525"/>
          </a:xfrm>
          <a:prstGeom prst="rect">
            <a:avLst/>
          </a:prstGeom>
          <a:solidFill>
            <a:srgbClr val="1D3841"/>
          </a:solidFill>
          <a:ln w="0">
            <a:solidFill>
              <a:srgbClr val="000000">
                <a:alpha val="0"/>
              </a:srgbClr>
            </a:solidFill>
            <a:prstDash val="solid"/>
          </a:ln>
        </p:spPr>
      </p:sp>
      <p:sp>
        <p:nvSpPr>
          <p:cNvPr id="36" name="">
            <a:extLst>
              <a:ext uri="{FF2B5EF4-FFF2-40B4-BE49-F238E27FC236}">
                <ns3:creationId id="{A14836CA-29C0-47EC-A04A-836B343B3610}"/>
              </a:ext>
            </a:extLst>
          </p:cNvPr>
          <p:cNvSpPr>
            <a:spLocks noGrp="1"/>
          </p:cNvSpPr>
          <p:nvPr/>
        </p:nvSpPr>
        <p:spPr>
          <a:xfrm>
            <a:off x="647700" y="5762625"/>
            <a:ext cx="20002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1">
                <a:solidFill>
                  <a:srgbClr val="F5FAF8"/>
                </a:solidFill>
                <a:latin typeface="Aptos"/>
                <a:ea typeface="Aptos"/>
                <a:cs typeface="Aptos"/>
              </a:defRPr>
            </a:pPr>
            <a:r>
              <a:rPr sz="615" b="1">
                <a:solidFill>
                  <a:srgbClr val="F5FAF8"/>
                </a:solidFill>
                <a:latin typeface="Aptos"/>
                <a:ea typeface="Aptos"/>
                <a:cs typeface="Aptos"/>
              </a:rPr>
              <a:t>Hand stamina</a:t>
            </a:r>
          </a:p>
        </p:txBody>
      </p:sp>
      <p:sp>
        <p:nvSpPr>
          <p:cNvPr id="37" name="">
            <a:extLst>
              <a:ext uri="{FF2B5EF4-FFF2-40B4-BE49-F238E27FC236}">
                <ns3:creationId id="{690D98D9-E1A2-44F9-B288-AA589254CE9E}"/>
              </a:ext>
            </a:extLst>
          </p:cNvPr>
          <p:cNvSpPr>
            <a:spLocks noGrp="1"/>
          </p:cNvSpPr>
          <p:nvPr/>
        </p:nvSpPr>
        <p:spPr>
          <a:xfrm>
            <a:off x="2838450" y="5762625"/>
            <a:ext cx="323850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Separate grip stamina for climbing actions</a:t>
            </a:r>
          </a:p>
        </p:txBody>
      </p:sp>
      <p:sp>
        <p:nvSpPr>
          <p:cNvPr id="38" name="">
            <a:extLst>
              <a:ext uri="{FF2B5EF4-FFF2-40B4-BE49-F238E27FC236}">
                <ns3:creationId id="{7E98F63F-F3BF-4F77-8801-ED83AE33B6A8}"/>
              </a:ext>
            </a:extLst>
          </p:cNvPr>
          <p:cNvSpPr>
            <a:spLocks noGrp="1"/>
          </p:cNvSpPr>
          <p:nvPr/>
        </p:nvSpPr>
        <p:spPr>
          <a:xfrm>
            <a:off x="6267450" y="5762625"/>
            <a:ext cx="4514850" cy="371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B6C8C7"/>
                </a:solidFill>
                <a:latin typeface="Aptos"/>
                <a:ea typeface="Aptos"/>
                <a:cs typeface="Aptos"/>
              </a:defRPr>
            </a:pPr>
            <a:r>
              <a:rPr sz="563" b="0">
                <a:solidFill>
                  <a:srgbClr val="B6C8C7"/>
                </a:solidFill>
                <a:latin typeface="Aptos"/>
                <a:ea typeface="Aptos"/>
                <a:cs typeface="Aptos"/>
              </a:rPr>
              <a:t>Forces pauses, safer route choices and better timing</a:t>
            </a:r>
          </a:p>
        </p:txBody>
      </p:sp>
      <p:sp>
        <p:nvSpPr>
          <p:cNvPr id="39" name="">
            <a:extLst>
              <a:ext uri="{FF2B5EF4-FFF2-40B4-BE49-F238E27FC236}">
                <ns3:creationId id="{AB071F4E-803F-4197-9086-985D15BA49A0}"/>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40" name="">
            <a:extLst>
              <a:ext uri="{FF2B5EF4-FFF2-40B4-BE49-F238E27FC236}">
                <ns3:creationId id="{8310EAD4-518E-448F-8D42-26C7F5A88728}"/>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05</a:t>
            </a:r>
          </a:p>
        </p:txBody>
      </p:sp>
    </p:spTree>
    <p:extLst>
      <p:ext uri="{BB962C8B-B14F-4D97-AF65-F5344CB8AC3E}">
        <ns4:creationId val="1222393838"/>
      </p:ext>
    </p:extLst>
  </p:cSld>
</p:sld>
</file>

<file path=ppt/slides/slide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40" name="Berg alternating background 6"/>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3797594E-E214-4B17-B230-4BE6CA794194}"/>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6-marker">
            <a:extLst>
              <a:ext uri="{FF2B5EF4-FFF2-40B4-BE49-F238E27FC236}">
                <ns3:creationId id="{D7807A50-54F0-49A1-A025-4F758A029A1A}"/>
              </a:ext>
            </a:extLst>
          </p:cNvPr>
          <p:cNvSpPr>
            <a:spLocks noGrp="1"/>
          </p:cNvSpPr>
          <p:nvPr/>
        </p:nvSpPr>
        <p:spPr>
          <a:xfrm>
            <a:off x="552450" y="514350"/>
            <a:ext cx="76200" cy="76200"/>
          </a:xfrm>
          <a:prstGeom prst="rect">
            <a:avLst/>
          </a:prstGeom>
          <a:solidFill>
            <a:srgbClr val="E64232"/>
          </a:solidFill>
          <a:ln w="0">
            <a:solidFill>
              <a:srgbClr val="000000">
                <a:alpha val="0"/>
              </a:srgbClr>
            </a:solidFill>
            <a:prstDash val="solid"/>
          </a:ln>
        </p:spPr>
      </p:sp>
      <p:sp>
        <p:nvSpPr>
          <p:cNvPr id="3" name="kicker-06-label">
            <a:extLst>
              <a:ext uri="{FF2B5EF4-FFF2-40B4-BE49-F238E27FC236}">
                <ns3:creationId id="{12C38770-EC42-4B14-81E6-4A20374A260D}"/>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SOCIAL MOUNTAIN</a:t>
            </a:r>
          </a:p>
        </p:txBody>
      </p:sp>
      <p:sp>
        <p:nvSpPr>
          <p:cNvPr id="4" name="">
            <a:extLst>
              <a:ext uri="{FF2B5EF4-FFF2-40B4-BE49-F238E27FC236}">
                <ns3:creationId id="{6483A348-CA60-467C-A81B-CC2F2373A132}"/>
              </a:ext>
            </a:extLst>
          </p:cNvPr>
          <p:cNvSpPr>
            <a:spLocks noGrp="1"/>
          </p:cNvSpPr>
          <p:nvPr/>
        </p:nvSpPr>
        <p:spPr>
          <a:xfrm>
            <a:off x="552450" y="990600"/>
            <a:ext cx="7810500" cy="781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Multiplayer turns the mountain into a shared expedition space.</a:t>
            </a:r>
          </a:p>
        </p:txBody>
      </p:sp>
      <p:sp>
        <p:nvSpPr>
          <p:cNvPr id="5" name="">
            <a:extLst>
              <a:ext uri="{FF2B5EF4-FFF2-40B4-BE49-F238E27FC236}">
                <ns3:creationId id="{0DA9E3A3-0BB2-44A0-9DCB-54FF95D3D003}"/>
              </a:ext>
            </a:extLst>
          </p:cNvPr>
          <p:cNvSpPr>
            <a:spLocks noGrp="1"/>
          </p:cNvSpPr>
          <p:nvPr/>
        </p:nvSpPr>
        <p:spPr>
          <a:xfrm>
            <a:off x="590550" y="1943100"/>
            <a:ext cx="78105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7" b="0">
                <a:solidFill>
                  <a:srgbClr val="B6C8C7"/>
                </a:solidFill>
                <a:latin typeface="Aptos"/>
                <a:ea typeface="Aptos"/>
                <a:cs typeface="Aptos"/>
              </a:defRPr>
            </a:pPr>
            <a:r>
              <a:rPr sz="907" b="0">
                <a:solidFill>
                  <a:srgbClr val="B6C8C7"/>
                </a:solidFill>
                <a:latin typeface="Aptos"/>
                <a:ea typeface="Aptos"/>
                <a:cs typeface="Aptos"/>
              </a:rPr>
              <a:t>BERG is not limited to a closed four-player party. The concept is built around a cloud-hosted Photon server where multiple teams share the same mountain, cross paths on routes, hear nearby players through distance-based voice chat and create organic rescue, supply and cooperation moments.</a:t>
            </a:r>
          </a:p>
        </p:txBody>
      </p:sp>
      <p:sp>
        <p:nvSpPr>
          <p:cNvPr id="6" name="">
            <a:extLst>
              <a:ext uri="{FF2B5EF4-FFF2-40B4-BE49-F238E27FC236}">
                <ns3:creationId id="{036006F5-6CDD-44BA-8876-04E9FAE62981}"/>
              </a:ext>
            </a:extLst>
          </p:cNvPr>
          <p:cNvSpPr>
            <a:spLocks noGrp="1"/>
          </p:cNvSpPr>
          <p:nvPr/>
        </p:nvSpPr>
        <p:spPr>
          <a:xfrm>
            <a:off x="685800" y="3105150"/>
            <a:ext cx="2247900" cy="1123950"/>
          </a:xfrm>
          <a:prstGeom prst="rect">
            <a:avLst/>
          </a:prstGeom>
          <a:solidFill>
            <a:srgbClr val="0D2229"/>
          </a:solidFill>
          <a:ln w="9525">
            <a:solidFill>
              <a:srgbClr val="2E4C55"/>
            </a:solidFill>
            <a:prstDash val="solid"/>
          </a:ln>
        </p:spPr>
      </p:sp>
      <p:sp>
        <p:nvSpPr>
          <p:cNvPr id="7" name="">
            <a:extLst>
              <a:ext uri="{FF2B5EF4-FFF2-40B4-BE49-F238E27FC236}">
                <ns3:creationId id="{AA88985D-D844-4B8F-A1EF-0480559716EF}"/>
              </a:ext>
            </a:extLst>
          </p:cNvPr>
          <p:cNvSpPr>
            <a:spLocks noGrp="1"/>
          </p:cNvSpPr>
          <p:nvPr/>
        </p:nvSpPr>
        <p:spPr>
          <a:xfrm>
            <a:off x="685800" y="3105150"/>
            <a:ext cx="2247900" cy="47625"/>
          </a:xfrm>
          <a:prstGeom prst="rect">
            <a:avLst/>
          </a:prstGeom>
          <a:solidFill>
            <a:srgbClr val="8ED17A"/>
          </a:solidFill>
          <a:ln w="0">
            <a:solidFill>
              <a:srgbClr val="000000">
                <a:alpha val="0"/>
              </a:srgbClr>
            </a:solidFill>
            <a:prstDash val="solid"/>
          </a:ln>
        </p:spPr>
      </p:sp>
      <p:sp>
        <p:nvSpPr>
          <p:cNvPr id="8" name="">
            <a:extLst>
              <a:ext uri="{FF2B5EF4-FFF2-40B4-BE49-F238E27FC236}">
                <ns3:creationId id="{C8704B11-EADD-4D63-B805-8853BF61B5F5}"/>
              </a:ext>
            </a:extLst>
          </p:cNvPr>
          <p:cNvSpPr>
            <a:spLocks noGrp="1"/>
          </p:cNvSpPr>
          <p:nvPr/>
        </p:nvSpPr>
        <p:spPr>
          <a:xfrm>
            <a:off x="838200" y="3276600"/>
            <a:ext cx="1943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Public base</a:t>
            </a:r>
          </a:p>
        </p:txBody>
      </p:sp>
      <p:sp>
        <p:nvSpPr>
          <p:cNvPr id="9" name="">
            <a:extLst>
              <a:ext uri="{FF2B5EF4-FFF2-40B4-BE49-F238E27FC236}">
                <ns3:creationId id="{D82F7FDC-E8DA-4180-80BF-F9ECFA92DA77}"/>
              </a:ext>
            </a:extLst>
          </p:cNvPr>
          <p:cNvSpPr>
            <a:spLocks noGrp="1"/>
          </p:cNvSpPr>
          <p:nvPr/>
        </p:nvSpPr>
        <p:spPr>
          <a:xfrm>
            <a:off x="838200" y="3581400"/>
            <a:ext cx="1943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0" b="0">
                <a:solidFill>
                  <a:srgbClr val="B6C8C7"/>
                </a:solidFill>
                <a:latin typeface="Aptos"/>
                <a:ea typeface="Aptos"/>
                <a:cs typeface="Aptos"/>
              </a:defRPr>
            </a:pPr>
            <a:r>
              <a:rPr sz="720" b="0">
                <a:solidFill>
                  <a:srgbClr val="B6C8C7"/>
                </a:solidFill>
                <a:latin typeface="Aptos"/>
                <a:ea typeface="Aptos"/>
                <a:cs typeface="Aptos"/>
              </a:rPr>
              <a:t>Players gather, choose routes, accept tasks and form groups.</a:t>
            </a:r>
          </a:p>
        </p:txBody>
      </p:sp>
      <p:sp>
        <p:nvSpPr>
          <p:cNvPr id="10" name="">
            <a:extLst>
              <a:ext uri="{FF2B5EF4-FFF2-40B4-BE49-F238E27FC236}">
                <ns3:creationId id="{4BC4137A-7C79-4C39-A7E2-92B0381CC97D}"/>
              </a:ext>
            </a:extLst>
          </p:cNvPr>
          <p:cNvSpPr>
            <a:spLocks noGrp="1"/>
          </p:cNvSpPr>
          <p:nvPr/>
        </p:nvSpPr>
        <p:spPr>
          <a:xfrm>
            <a:off x="3162300" y="3105150"/>
            <a:ext cx="2247900" cy="1123950"/>
          </a:xfrm>
          <a:prstGeom prst="rect">
            <a:avLst/>
          </a:prstGeom>
          <a:solidFill>
            <a:srgbClr val="0D2229"/>
          </a:solidFill>
          <a:ln w="9525">
            <a:solidFill>
              <a:srgbClr val="2E4C55"/>
            </a:solidFill>
            <a:prstDash val="solid"/>
          </a:ln>
        </p:spPr>
      </p:sp>
      <p:sp>
        <p:nvSpPr>
          <p:cNvPr id="11" name="">
            <a:extLst>
              <a:ext uri="{FF2B5EF4-FFF2-40B4-BE49-F238E27FC236}">
                <ns3:creationId id="{5A35B7D1-6528-4818-8D37-19753B7057B8}"/>
              </a:ext>
            </a:extLst>
          </p:cNvPr>
          <p:cNvSpPr>
            <a:spLocks noGrp="1"/>
          </p:cNvSpPr>
          <p:nvPr/>
        </p:nvSpPr>
        <p:spPr>
          <a:xfrm>
            <a:off x="3162300" y="3105150"/>
            <a:ext cx="2247900" cy="47625"/>
          </a:xfrm>
          <a:prstGeom prst="rect">
            <a:avLst/>
          </a:prstGeom>
          <a:solidFill>
            <a:srgbClr val="8BD3E6"/>
          </a:solidFill>
          <a:ln w="0">
            <a:solidFill>
              <a:srgbClr val="000000">
                <a:alpha val="0"/>
              </a:srgbClr>
            </a:solidFill>
            <a:prstDash val="solid"/>
          </a:ln>
        </p:spPr>
      </p:sp>
      <p:sp>
        <p:nvSpPr>
          <p:cNvPr id="12" name="">
            <a:extLst>
              <a:ext uri="{FF2B5EF4-FFF2-40B4-BE49-F238E27FC236}">
                <ns3:creationId id="{DC4ABC3E-1E1F-4C82-B3E2-0DB7CFC1649C}"/>
              </a:ext>
            </a:extLst>
          </p:cNvPr>
          <p:cNvSpPr>
            <a:spLocks noGrp="1"/>
          </p:cNvSpPr>
          <p:nvPr/>
        </p:nvSpPr>
        <p:spPr>
          <a:xfrm>
            <a:off x="3314700" y="3276600"/>
            <a:ext cx="1943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Route traffic</a:t>
            </a:r>
          </a:p>
        </p:txBody>
      </p:sp>
      <p:sp>
        <p:nvSpPr>
          <p:cNvPr id="13" name="">
            <a:extLst>
              <a:ext uri="{FF2B5EF4-FFF2-40B4-BE49-F238E27FC236}">
                <ns3:creationId id="{3FA2CB9B-6512-4967-94F7-C03B305D3177}"/>
              </a:ext>
            </a:extLst>
          </p:cNvPr>
          <p:cNvSpPr>
            <a:spLocks noGrp="1"/>
          </p:cNvSpPr>
          <p:nvPr/>
        </p:nvSpPr>
        <p:spPr>
          <a:xfrm>
            <a:off x="3314700" y="3581400"/>
            <a:ext cx="1943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0" b="0">
                <a:solidFill>
                  <a:srgbClr val="B6C8C7"/>
                </a:solidFill>
                <a:latin typeface="Aptos"/>
                <a:ea typeface="Aptos"/>
                <a:cs typeface="Aptos"/>
              </a:defRPr>
            </a:pPr>
            <a:r>
              <a:rPr sz="720" b="0">
                <a:solidFill>
                  <a:srgbClr val="B6C8C7"/>
                </a:solidFill>
                <a:latin typeface="Aptos"/>
                <a:ea typeface="Aptos"/>
                <a:cs typeface="Aptos"/>
              </a:rPr>
              <a:t>Teams cross each other on easier and more technical climbing lines.</a:t>
            </a:r>
          </a:p>
        </p:txBody>
      </p:sp>
      <p:sp>
        <p:nvSpPr>
          <p:cNvPr id="14" name="">
            <a:extLst>
              <a:ext uri="{FF2B5EF4-FFF2-40B4-BE49-F238E27FC236}">
                <ns3:creationId id="{9CB734AD-3EB1-4BA9-8B57-338A44D37AEF}"/>
              </a:ext>
            </a:extLst>
          </p:cNvPr>
          <p:cNvSpPr>
            <a:spLocks noGrp="1"/>
          </p:cNvSpPr>
          <p:nvPr/>
        </p:nvSpPr>
        <p:spPr>
          <a:xfrm>
            <a:off x="5638800" y="3105150"/>
            <a:ext cx="2247900" cy="1123950"/>
          </a:xfrm>
          <a:prstGeom prst="rect">
            <a:avLst/>
          </a:prstGeom>
          <a:solidFill>
            <a:srgbClr val="0D2229"/>
          </a:solidFill>
          <a:ln w="9525">
            <a:solidFill>
              <a:srgbClr val="2E4C55"/>
            </a:solidFill>
            <a:prstDash val="solid"/>
          </a:ln>
        </p:spPr>
      </p:sp>
      <p:sp>
        <p:nvSpPr>
          <p:cNvPr id="15" name="">
            <a:extLst>
              <a:ext uri="{FF2B5EF4-FFF2-40B4-BE49-F238E27FC236}">
                <ns3:creationId id="{6E29C5A3-1D64-4548-BC98-B3508AFC54E9}"/>
              </a:ext>
            </a:extLst>
          </p:cNvPr>
          <p:cNvSpPr>
            <a:spLocks noGrp="1"/>
          </p:cNvSpPr>
          <p:nvPr/>
        </p:nvSpPr>
        <p:spPr>
          <a:xfrm>
            <a:off x="5638800" y="3105150"/>
            <a:ext cx="2247900" cy="47625"/>
          </a:xfrm>
          <a:prstGeom prst="rect">
            <a:avLst/>
          </a:prstGeom>
          <a:solidFill>
            <a:srgbClr val="FFB55A"/>
          </a:solidFill>
          <a:ln w="0">
            <a:solidFill>
              <a:srgbClr val="000000">
                <a:alpha val="0"/>
              </a:srgbClr>
            </a:solidFill>
            <a:prstDash val="solid"/>
          </a:ln>
        </p:spPr>
      </p:sp>
      <p:sp>
        <p:nvSpPr>
          <p:cNvPr id="16" name="">
            <a:extLst>
              <a:ext uri="{FF2B5EF4-FFF2-40B4-BE49-F238E27FC236}">
                <ns3:creationId id="{79D00514-A872-4293-8F08-0E342BCCD91D}"/>
              </a:ext>
            </a:extLst>
          </p:cNvPr>
          <p:cNvSpPr>
            <a:spLocks noGrp="1"/>
          </p:cNvSpPr>
          <p:nvPr/>
        </p:nvSpPr>
        <p:spPr>
          <a:xfrm>
            <a:off x="5791200" y="3276600"/>
            <a:ext cx="1943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Emergent help</a:t>
            </a:r>
          </a:p>
        </p:txBody>
      </p:sp>
      <p:sp>
        <p:nvSpPr>
          <p:cNvPr id="17" name="">
            <a:extLst>
              <a:ext uri="{FF2B5EF4-FFF2-40B4-BE49-F238E27FC236}">
                <ns3:creationId id="{F63D153D-99D0-41A1-9FB0-7E4759EE7576}"/>
              </a:ext>
            </a:extLst>
          </p:cNvPr>
          <p:cNvSpPr>
            <a:spLocks noGrp="1"/>
          </p:cNvSpPr>
          <p:nvPr/>
        </p:nvSpPr>
        <p:spPr>
          <a:xfrm>
            <a:off x="5791200" y="3581400"/>
            <a:ext cx="1943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0" b="0">
                <a:solidFill>
                  <a:srgbClr val="B6C8C7"/>
                </a:solidFill>
                <a:latin typeface="Aptos"/>
                <a:ea typeface="Aptos"/>
                <a:cs typeface="Aptos"/>
              </a:defRPr>
            </a:pPr>
            <a:r>
              <a:rPr sz="720" b="0">
                <a:solidFill>
                  <a:srgbClr val="B6C8C7"/>
                </a:solidFill>
                <a:latin typeface="Aptos"/>
                <a:ea typeface="Aptos"/>
                <a:cs typeface="Aptos"/>
              </a:rPr>
              <a:t>Supplies, rescue actions and rope support become social interactions.</a:t>
            </a:r>
          </a:p>
        </p:txBody>
      </p:sp>
      <p:sp>
        <p:nvSpPr>
          <p:cNvPr id="18" name="">
            <a:extLst>
              <a:ext uri="{FF2B5EF4-FFF2-40B4-BE49-F238E27FC236}">
                <ns3:creationId id="{0222ED9E-FE8A-4198-ABC9-49A9C5D4717E}"/>
              </a:ext>
            </a:extLst>
          </p:cNvPr>
          <p:cNvSpPr>
            <a:spLocks noGrp="1"/>
          </p:cNvSpPr>
          <p:nvPr/>
        </p:nvSpPr>
        <p:spPr>
          <a:xfrm>
            <a:off x="8115300" y="3105150"/>
            <a:ext cx="2247900" cy="1123950"/>
          </a:xfrm>
          <a:prstGeom prst="rect">
            <a:avLst/>
          </a:prstGeom>
          <a:solidFill>
            <a:srgbClr val="0D2229"/>
          </a:solidFill>
          <a:ln w="9525">
            <a:solidFill>
              <a:srgbClr val="2E4C55"/>
            </a:solidFill>
            <a:prstDash val="solid"/>
          </a:ln>
        </p:spPr>
      </p:sp>
      <p:sp>
        <p:nvSpPr>
          <p:cNvPr id="19" name="">
            <a:extLst>
              <a:ext uri="{FF2B5EF4-FFF2-40B4-BE49-F238E27FC236}">
                <ns3:creationId id="{04D3A9A4-DCA2-446E-9B14-E3CA6B277F85}"/>
              </a:ext>
            </a:extLst>
          </p:cNvPr>
          <p:cNvSpPr>
            <a:spLocks noGrp="1"/>
          </p:cNvSpPr>
          <p:nvPr/>
        </p:nvSpPr>
        <p:spPr>
          <a:xfrm>
            <a:off x="8115300" y="3105150"/>
            <a:ext cx="2247900" cy="47625"/>
          </a:xfrm>
          <a:prstGeom prst="rect">
            <a:avLst/>
          </a:prstGeom>
          <a:solidFill>
            <a:srgbClr val="E64232"/>
          </a:solidFill>
          <a:ln w="0">
            <a:solidFill>
              <a:srgbClr val="000000">
                <a:alpha val="0"/>
              </a:srgbClr>
            </a:solidFill>
            <a:prstDash val="solid"/>
          </a:ln>
        </p:spPr>
      </p:sp>
      <p:sp>
        <p:nvSpPr>
          <p:cNvPr id="20" name="">
            <a:extLst>
              <a:ext uri="{FF2B5EF4-FFF2-40B4-BE49-F238E27FC236}">
                <ns3:creationId id="{EB20BED9-709B-4EA7-9BF4-D0501CBD23A8}"/>
              </a:ext>
            </a:extLst>
          </p:cNvPr>
          <p:cNvSpPr>
            <a:spLocks noGrp="1"/>
          </p:cNvSpPr>
          <p:nvPr/>
        </p:nvSpPr>
        <p:spPr>
          <a:xfrm>
            <a:off x="8267700" y="3276600"/>
            <a:ext cx="1943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Summit stories / leaderboard</a:t>
            </a:r>
          </a:p>
        </p:txBody>
      </p:sp>
      <p:sp>
        <p:nvSpPr>
          <p:cNvPr id="21" name="">
            <a:extLst>
              <a:ext uri="{FF2B5EF4-FFF2-40B4-BE49-F238E27FC236}">
                <ns3:creationId id="{9E29435D-F24B-481D-8B29-960A83BBAAF5}"/>
              </a:ext>
            </a:extLst>
          </p:cNvPr>
          <p:cNvSpPr>
            <a:spLocks noGrp="1"/>
          </p:cNvSpPr>
          <p:nvPr/>
        </p:nvSpPr>
        <p:spPr>
          <a:xfrm>
            <a:off x="8267700" y="3581400"/>
            <a:ext cx="1943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8" b="0">
                <a:solidFill>
                  <a:srgbClr val="B6C8C7"/>
                </a:solidFill>
                <a:latin typeface="Aptos"/>
                <a:ea typeface="Aptos"/>
                <a:cs typeface="Aptos"/>
              </a:defRPr>
            </a:pPr>
            <a:r>
              <a:rPr sz="698" b="0">
                <a:solidFill>
                  <a:srgbClr val="B6C8C7"/>
                </a:solidFill>
                <a:latin typeface="Aptos"/>
                <a:ea typeface="Aptos"/>
                <a:cs typeface="Aptos"/>
              </a:rPr>
              <a:t>The server records who reached the summit and under which conditions.</a:t>
            </a:r>
          </a:p>
        </p:txBody>
      </p:sp>
      <p:sp>
        <p:nvSpPr>
          <p:cNvPr id="22" name="">
            <a:extLst>
              <a:ext uri="{FF2B5EF4-FFF2-40B4-BE49-F238E27FC236}">
                <ns3:creationId id="{7CEAB67D-0087-4700-ADE6-717CD78CC66A}"/>
              </a:ext>
            </a:extLst>
          </p:cNvPr>
          <p:cNvSpPr>
            <a:spLocks noGrp="1"/>
          </p:cNvSpPr>
          <p:nvPr/>
        </p:nvSpPr>
        <p:spPr>
          <a:xfrm>
            <a:off x="8858250" y="1104900"/>
            <a:ext cx="1809750" cy="9525"/>
          </a:xfrm>
          <a:prstGeom prst="rect">
            <a:avLst/>
          </a:prstGeom>
          <a:solidFill>
            <a:srgbClr val="2A4550"/>
          </a:solidFill>
          <a:ln w="0">
            <a:solidFill>
              <a:srgbClr val="000000">
                <a:alpha val="0"/>
              </a:srgbClr>
            </a:solidFill>
            <a:prstDash val="solid"/>
          </a:ln>
        </p:spPr>
      </p:sp>
      <p:sp>
        <p:nvSpPr>
          <p:cNvPr id="23" name="">
            <a:extLst>
              <a:ext uri="{FF2B5EF4-FFF2-40B4-BE49-F238E27FC236}">
                <ns3:creationId id="{5AEED366-D5D7-4F11-BEAD-5BE0C33B0EC2}"/>
              </a:ext>
            </a:extLst>
          </p:cNvPr>
          <p:cNvSpPr>
            <a:spLocks noGrp="1"/>
          </p:cNvSpPr>
          <p:nvPr/>
        </p:nvSpPr>
        <p:spPr>
          <a:xfrm>
            <a:off x="8858250" y="1257300"/>
            <a:ext cx="18097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FFB55A"/>
                </a:solidFill>
                <a:latin typeface="Aptos Display"/>
                <a:ea typeface="Aptos Display"/>
                <a:cs typeface="Aptos Display"/>
              </a:defRPr>
            </a:pPr>
            <a:r>
              <a:rPr sz="1725" b="1">
                <a:solidFill>
                  <a:srgbClr val="FFB55A"/>
                </a:solidFill>
                <a:latin typeface="Aptos Display"/>
                <a:ea typeface="Aptos Display"/>
                <a:cs typeface="Aptos Display"/>
              </a:rPr>
              <a:t>Up to 100</a:t>
            </a:r>
          </a:p>
        </p:txBody>
      </p:sp>
      <p:sp>
        <p:nvSpPr>
          <p:cNvPr id="24" name="">
            <a:extLst>
              <a:ext uri="{FF2B5EF4-FFF2-40B4-BE49-F238E27FC236}">
                <ns3:creationId id="{0D5B2DD0-76AB-4E9D-AC85-EB1AC83F25C4}"/>
              </a:ext>
            </a:extLst>
          </p:cNvPr>
          <p:cNvSpPr>
            <a:spLocks noGrp="1"/>
          </p:cNvSpPr>
          <p:nvPr/>
        </p:nvSpPr>
        <p:spPr>
          <a:xfrm>
            <a:off x="8858250" y="16002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ONLINE PLAYERS</a:t>
            </a:r>
          </a:p>
        </p:txBody>
      </p:sp>
      <p:sp>
        <p:nvSpPr>
          <p:cNvPr id="25" name="">
            <a:extLst>
              <a:ext uri="{FF2B5EF4-FFF2-40B4-BE49-F238E27FC236}">
                <ns3:creationId id="{937D064A-B757-470A-AB7B-7AE388FFF85F}"/>
              </a:ext>
            </a:extLst>
          </p:cNvPr>
          <p:cNvSpPr>
            <a:spLocks noGrp="1"/>
          </p:cNvSpPr>
          <p:nvPr/>
        </p:nvSpPr>
        <p:spPr>
          <a:xfrm>
            <a:off x="8858250" y="1781175"/>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public server ambition, to be validated during prototyping.</a:t>
            </a:r>
          </a:p>
        </p:txBody>
      </p:sp>
      <p:sp>
        <p:nvSpPr>
          <p:cNvPr id="26" name="">
            <a:extLst>
              <a:ext uri="{FF2B5EF4-FFF2-40B4-BE49-F238E27FC236}">
                <ns3:creationId id="{ECAF00D5-B554-4F2C-A2AC-E1F45BFB669B}"/>
              </a:ext>
            </a:extLst>
          </p:cNvPr>
          <p:cNvSpPr>
            <a:spLocks noGrp="1"/>
          </p:cNvSpPr>
          <p:nvPr/>
        </p:nvSpPr>
        <p:spPr>
          <a:xfrm>
            <a:off x="8858250" y="2228850"/>
            <a:ext cx="1809750" cy="9525"/>
          </a:xfrm>
          <a:prstGeom prst="rect">
            <a:avLst/>
          </a:prstGeom>
          <a:solidFill>
            <a:srgbClr val="2A4550"/>
          </a:solidFill>
          <a:ln w="0">
            <a:solidFill>
              <a:srgbClr val="000000">
                <a:alpha val="0"/>
              </a:srgbClr>
            </a:solidFill>
            <a:prstDash val="solid"/>
          </a:ln>
        </p:spPr>
      </p:sp>
      <p:sp>
        <p:nvSpPr>
          <p:cNvPr id="27" name="">
            <a:extLst>
              <a:ext uri="{FF2B5EF4-FFF2-40B4-BE49-F238E27FC236}">
                <ns3:creationId id="{909ABFE7-E2D8-4413-AE2A-9DCFF3D33C1F}"/>
              </a:ext>
            </a:extLst>
          </p:cNvPr>
          <p:cNvSpPr>
            <a:spLocks noGrp="1"/>
          </p:cNvSpPr>
          <p:nvPr/>
        </p:nvSpPr>
        <p:spPr>
          <a:xfrm>
            <a:off x="8858250" y="2381250"/>
            <a:ext cx="18097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BD3E6"/>
                </a:solidFill>
                <a:latin typeface="Aptos Display"/>
                <a:ea typeface="Aptos Display"/>
                <a:cs typeface="Aptos Display"/>
              </a:defRPr>
            </a:pPr>
            <a:r>
              <a:rPr sz="1725" b="1">
                <a:solidFill>
                  <a:srgbClr val="8BD3E6"/>
                </a:solidFill>
                <a:latin typeface="Aptos Display"/>
                <a:ea typeface="Aptos Display"/>
                <a:cs typeface="Aptos Display"/>
              </a:rPr>
              <a:t>Unity + Photon</a:t>
            </a:r>
          </a:p>
        </p:txBody>
      </p:sp>
      <p:sp>
        <p:nvSpPr>
          <p:cNvPr id="28" name="">
            <a:extLst>
              <a:ext uri="{FF2B5EF4-FFF2-40B4-BE49-F238E27FC236}">
                <ns3:creationId id="{89E2A489-C403-448D-A277-A78763240B62}"/>
              </a:ext>
            </a:extLst>
          </p:cNvPr>
          <p:cNvSpPr>
            <a:spLocks noGrp="1"/>
          </p:cNvSpPr>
          <p:nvPr/>
        </p:nvSpPr>
        <p:spPr>
          <a:xfrm>
            <a:off x="8858250" y="27241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TECHNICAL DIRECTION</a:t>
            </a:r>
          </a:p>
        </p:txBody>
      </p:sp>
      <p:sp>
        <p:nvSpPr>
          <p:cNvPr id="29" name="">
            <a:extLst>
              <a:ext uri="{FF2B5EF4-FFF2-40B4-BE49-F238E27FC236}">
                <ns3:creationId id="{2A3711CF-EE86-447F-940A-11849A6F7CB7}"/>
              </a:ext>
            </a:extLst>
          </p:cNvPr>
          <p:cNvSpPr>
            <a:spLocks noGrp="1"/>
          </p:cNvSpPr>
          <p:nvPr/>
        </p:nvSpPr>
        <p:spPr>
          <a:xfrm>
            <a:off x="8858250" y="2905125"/>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Unity + Photon</a:t>
            </a:r>
          </a:p>
        </p:txBody>
      </p:sp>
      <p:sp>
        <p:nvSpPr>
          <p:cNvPr id="30" name="">
            <a:extLst>
              <a:ext uri="{FF2B5EF4-FFF2-40B4-BE49-F238E27FC236}">
                <ns3:creationId id="{F96C7294-D2C5-45D4-939B-B5CA6DE75230}"/>
              </a:ext>
            </a:extLst>
          </p:cNvPr>
          <p:cNvSpPr>
            <a:spLocks noGrp="1"/>
          </p:cNvSpPr>
          <p:nvPr/>
        </p:nvSpPr>
        <p:spPr>
          <a:xfrm>
            <a:off x="685800" y="4819650"/>
            <a:ext cx="4572000" cy="742950"/>
          </a:xfrm>
          <a:prstGeom prst="rect">
            <a:avLst/>
          </a:prstGeom>
          <a:solidFill>
            <a:srgbClr val="0D2229"/>
          </a:solidFill>
          <a:ln w="9525">
            <a:solidFill>
              <a:srgbClr val="2E4C55"/>
            </a:solidFill>
            <a:prstDash val="solid"/>
          </a:ln>
        </p:spPr>
      </p:sp>
      <p:sp>
        <p:nvSpPr>
          <p:cNvPr id="31" name="">
            <a:extLst>
              <a:ext uri="{FF2B5EF4-FFF2-40B4-BE49-F238E27FC236}">
                <ns3:creationId id="{BD69BE06-3D97-4514-A355-D6BAF7AC33E4}"/>
              </a:ext>
            </a:extLst>
          </p:cNvPr>
          <p:cNvSpPr>
            <a:spLocks noGrp="1"/>
          </p:cNvSpPr>
          <p:nvPr/>
        </p:nvSpPr>
        <p:spPr>
          <a:xfrm>
            <a:off x="685800" y="4819650"/>
            <a:ext cx="4572000" cy="47625"/>
          </a:xfrm>
          <a:prstGeom prst="rect">
            <a:avLst/>
          </a:prstGeom>
          <a:solidFill>
            <a:srgbClr val="8ED17A"/>
          </a:solidFill>
          <a:ln w="0">
            <a:solidFill>
              <a:srgbClr val="000000">
                <a:alpha val="0"/>
              </a:srgbClr>
            </a:solidFill>
            <a:prstDash val="solid"/>
          </a:ln>
        </p:spPr>
      </p:sp>
      <p:sp>
        <p:nvSpPr>
          <p:cNvPr id="32" name="">
            <a:extLst>
              <a:ext uri="{FF2B5EF4-FFF2-40B4-BE49-F238E27FC236}">
                <ns3:creationId id="{BCBB6FED-CD20-4C0D-A15B-E8CC996F929C}"/>
              </a:ext>
            </a:extLst>
          </p:cNvPr>
          <p:cNvSpPr>
            <a:spLocks noGrp="1"/>
          </p:cNvSpPr>
          <p:nvPr/>
        </p:nvSpPr>
        <p:spPr>
          <a:xfrm>
            <a:off x="838200" y="4991100"/>
            <a:ext cx="4267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Communication</a:t>
            </a:r>
          </a:p>
        </p:txBody>
      </p:sp>
      <p:sp>
        <p:nvSpPr>
          <p:cNvPr id="33" name="">
            <a:extLst>
              <a:ext uri="{FF2B5EF4-FFF2-40B4-BE49-F238E27FC236}">
                <ns3:creationId id="{72A20315-426C-438A-A09D-D8B53143AA45}"/>
              </a:ext>
            </a:extLst>
          </p:cNvPr>
          <p:cNvSpPr>
            <a:spLocks noGrp="1"/>
          </p:cNvSpPr>
          <p:nvPr/>
        </p:nvSpPr>
        <p:spPr>
          <a:xfrm>
            <a:off x="838200" y="5295900"/>
            <a:ext cx="4267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5" b="0">
                <a:solidFill>
                  <a:srgbClr val="B6C8C7"/>
                </a:solidFill>
                <a:latin typeface="Aptos"/>
                <a:ea typeface="Aptos"/>
                <a:cs typeface="Aptos"/>
              </a:defRPr>
            </a:pPr>
            <a:r>
              <a:rPr sz="855" b="0">
                <a:solidFill>
                  <a:srgbClr val="B6C8C7"/>
                </a:solidFill>
                <a:latin typeface="Aptos"/>
                <a:ea typeface="Aptos"/>
                <a:cs typeface="Aptos"/>
              </a:rPr>
              <a:t>Distance-based voice chat</a:t>
            </a:r>
          </a:p>
          <a:p>
            <a:pPr algn="l">
              <a:defRPr sz="855" b="0">
                <a:solidFill>
                  <a:srgbClr val="B6C8C7"/>
                </a:solidFill>
                <a:latin typeface="Aptos"/>
                <a:ea typeface="Aptos"/>
                <a:cs typeface="Aptos"/>
              </a:defRPr>
            </a:pPr>
            <a:r>
              <a:rPr sz="855" b="0">
                <a:solidFill>
                  <a:srgbClr val="B6C8C7"/>
                </a:solidFill>
                <a:latin typeface="Aptos"/>
                <a:ea typeface="Aptos"/>
                <a:cs typeface="Aptos"/>
              </a:rPr>
              <a:t>Global text chat</a:t>
            </a:r>
          </a:p>
        </p:txBody>
      </p:sp>
      <p:sp>
        <p:nvSpPr>
          <p:cNvPr id="34" name="">
            <a:extLst>
              <a:ext uri="{FF2B5EF4-FFF2-40B4-BE49-F238E27FC236}">
                <ns3:creationId id="{A903EFA4-91B8-4ED8-BA2D-1C2CF26F61FA}"/>
              </a:ext>
            </a:extLst>
          </p:cNvPr>
          <p:cNvSpPr>
            <a:spLocks noGrp="1"/>
          </p:cNvSpPr>
          <p:nvPr/>
        </p:nvSpPr>
        <p:spPr>
          <a:xfrm>
            <a:off x="5638800" y="4819650"/>
            <a:ext cx="4724400" cy="742950"/>
          </a:xfrm>
          <a:prstGeom prst="rect">
            <a:avLst/>
          </a:prstGeom>
          <a:solidFill>
            <a:srgbClr val="0D2229"/>
          </a:solidFill>
          <a:ln w="9525">
            <a:solidFill>
              <a:srgbClr val="2E4C55"/>
            </a:solidFill>
            <a:prstDash val="solid"/>
          </a:ln>
        </p:spPr>
      </p:sp>
      <p:sp>
        <p:nvSpPr>
          <p:cNvPr id="35" name="">
            <a:extLst>
              <a:ext uri="{FF2B5EF4-FFF2-40B4-BE49-F238E27FC236}">
                <ns3:creationId id="{CE2059E6-C406-4C86-9A09-7FAB2FFE281C}"/>
              </a:ext>
            </a:extLst>
          </p:cNvPr>
          <p:cNvSpPr>
            <a:spLocks noGrp="1"/>
          </p:cNvSpPr>
          <p:nvPr/>
        </p:nvSpPr>
        <p:spPr>
          <a:xfrm>
            <a:off x="5638800" y="4819650"/>
            <a:ext cx="4724400" cy="47625"/>
          </a:xfrm>
          <a:prstGeom prst="rect">
            <a:avLst/>
          </a:prstGeom>
          <a:solidFill>
            <a:srgbClr val="8BD3E6"/>
          </a:solidFill>
          <a:ln w="0">
            <a:solidFill>
              <a:srgbClr val="000000">
                <a:alpha val="0"/>
              </a:srgbClr>
            </a:solidFill>
            <a:prstDash val="solid"/>
          </a:ln>
        </p:spPr>
      </p:sp>
      <p:sp>
        <p:nvSpPr>
          <p:cNvPr id="36" name="">
            <a:extLst>
              <a:ext uri="{FF2B5EF4-FFF2-40B4-BE49-F238E27FC236}">
                <ns3:creationId id="{87D99FDF-E0BE-44E0-966C-BEEF47DC067D}"/>
              </a:ext>
            </a:extLst>
          </p:cNvPr>
          <p:cNvSpPr>
            <a:spLocks noGrp="1"/>
          </p:cNvSpPr>
          <p:nvPr/>
        </p:nvSpPr>
        <p:spPr>
          <a:xfrm>
            <a:off x="5791200" y="4991100"/>
            <a:ext cx="441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Design intent</a:t>
            </a:r>
          </a:p>
        </p:txBody>
      </p:sp>
      <p:sp>
        <p:nvSpPr>
          <p:cNvPr id="37" name="">
            <a:extLst>
              <a:ext uri="{FF2B5EF4-FFF2-40B4-BE49-F238E27FC236}">
                <ns3:creationId id="{5CEF05BC-4742-4BD0-99DE-B5F2E119989D}"/>
              </a:ext>
            </a:extLst>
          </p:cNvPr>
          <p:cNvSpPr>
            <a:spLocks noGrp="1"/>
          </p:cNvSpPr>
          <p:nvPr/>
        </p:nvSpPr>
        <p:spPr>
          <a:xfrm>
            <a:off x="5791200" y="5295900"/>
            <a:ext cx="4419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B6C8C7"/>
                </a:solidFill>
                <a:latin typeface="Aptos"/>
                <a:ea typeface="Aptos"/>
                <a:cs typeface="Aptos"/>
              </a:defRPr>
            </a:pPr>
            <a:r>
              <a:rPr sz="750" b="0">
                <a:solidFill>
                  <a:srgbClr val="B6C8C7"/>
                </a:solidFill>
                <a:latin typeface="Aptos"/>
                <a:ea typeface="Aptos"/>
                <a:cs typeface="Aptos"/>
              </a:rPr>
              <a:t>A public mountain where other players become part of the expedition pressure, not just background population.</a:t>
            </a:r>
          </a:p>
        </p:txBody>
      </p:sp>
      <p:sp>
        <p:nvSpPr>
          <p:cNvPr id="38" name="">
            <a:extLst>
              <a:ext uri="{FF2B5EF4-FFF2-40B4-BE49-F238E27FC236}">
                <ns3:creationId id="{E91A3A4A-7F9D-4785-A9DD-92928CC4A8B1}"/>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39" name="">
            <a:extLst>
              <a:ext uri="{FF2B5EF4-FFF2-40B4-BE49-F238E27FC236}">
                <ns3:creationId id="{2AC08874-6735-4292-A04B-BEA46AE47970}"/>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06</a:t>
            </a:r>
          </a:p>
        </p:txBody>
      </p:sp>
    </p:spTree>
    <p:extLst>
      <p:ext uri="{BB962C8B-B14F-4D97-AF65-F5344CB8AC3E}">
        <ns4:creationId val="662264192"/>
      </p:ext>
    </p:extLst>
  </p:cSld>
</p:sld>
</file>

<file path=ppt/slides/slide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36" name="Berg alternating background 7"/>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32DA180E-2E57-4526-9BA4-DF4BB3D4160D}"/>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7-marker">
            <a:extLst>
              <a:ext uri="{FF2B5EF4-FFF2-40B4-BE49-F238E27FC236}">
                <ns3:creationId id="{A2BD768D-A530-4435-86C1-1C68499EC60C}"/>
              </a:ext>
            </a:extLst>
          </p:cNvPr>
          <p:cNvSpPr>
            <a:spLocks noGrp="1"/>
          </p:cNvSpPr>
          <p:nvPr/>
        </p:nvSpPr>
        <p:spPr>
          <a:xfrm>
            <a:off x="552450" y="514350"/>
            <a:ext cx="76200" cy="76200"/>
          </a:xfrm>
          <a:prstGeom prst="rect">
            <a:avLst/>
          </a:prstGeom>
          <a:solidFill>
            <a:srgbClr val="8ED17A"/>
          </a:solidFill>
          <a:ln w="0">
            <a:solidFill>
              <a:srgbClr val="000000">
                <a:alpha val="0"/>
              </a:srgbClr>
            </a:solidFill>
            <a:prstDash val="solid"/>
          </a:ln>
        </p:spPr>
      </p:sp>
      <p:sp>
        <p:nvSpPr>
          <p:cNvPr id="3" name="kicker-07-label">
            <a:extLst>
              <a:ext uri="{FF2B5EF4-FFF2-40B4-BE49-F238E27FC236}">
                <ns3:creationId id="{CF47F1F0-02B5-4688-AC26-97724387F8C7}"/>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PROGRESSION AND RETENTION</a:t>
            </a:r>
          </a:p>
        </p:txBody>
      </p:sp>
      <p:sp>
        <p:nvSpPr>
          <p:cNvPr id="4" name="">
            <a:extLst>
              <a:ext uri="{FF2B5EF4-FFF2-40B4-BE49-F238E27FC236}">
                <ns3:creationId id="{330CCC47-C01C-4AC5-90D1-3B0124E5FF76}"/>
              </a:ext>
            </a:extLst>
          </p:cNvPr>
          <p:cNvSpPr>
            <a:spLocks noGrp="1"/>
          </p:cNvSpPr>
          <p:nvPr/>
        </p:nvSpPr>
        <p:spPr>
          <a:xfrm>
            <a:off x="552450" y="990600"/>
            <a:ext cx="8096250" cy="7620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Replayability comes from upgrades, harder routes and shared stories.</a:t>
            </a:r>
          </a:p>
        </p:txBody>
      </p:sp>
      <p:sp>
        <p:nvSpPr>
          <p:cNvPr id="5" name="">
            <a:extLst>
              <a:ext uri="{FF2B5EF4-FFF2-40B4-BE49-F238E27FC236}">
                <ns3:creationId id="{9EF3C49B-1A85-417A-AB7C-DD9C305BB86A}"/>
              </a:ext>
            </a:extLst>
          </p:cNvPr>
          <p:cNvSpPr>
            <a:spLocks noGrp="1"/>
          </p:cNvSpPr>
          <p:nvPr/>
        </p:nvSpPr>
        <p:spPr>
          <a:xfrm>
            <a:off x="590550" y="1943100"/>
            <a:ext cx="8096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23" b="0">
                <a:solidFill>
                  <a:srgbClr val="B6C8C7"/>
                </a:solidFill>
                <a:latin typeface="Aptos"/>
                <a:ea typeface="Aptos"/>
                <a:cs typeface="Aptos"/>
              </a:defRPr>
            </a:pPr>
            <a:r>
              <a:rPr sz="923" b="0">
                <a:solidFill>
                  <a:srgbClr val="B6C8C7"/>
                </a:solidFill>
                <a:latin typeface="Aptos"/>
                <a:ea typeface="Aptos"/>
                <a:cs typeface="Aptos"/>
              </a:rPr>
              <a:t>BERG is designed around repeated attempts to reach the summit under different conditions. Players improve their equipment, unlock more demanding routes and return to the mountain with different friends to experience new failures, rescues and summit stories.</a:t>
            </a:r>
          </a:p>
        </p:txBody>
      </p:sp>
      <p:sp>
        <p:nvSpPr>
          <p:cNvPr id="6" name="">
            <a:extLst>
              <a:ext uri="{FF2B5EF4-FFF2-40B4-BE49-F238E27FC236}">
                <ns3:creationId id="{4F544E25-1C8C-4255-A8FB-D13C303FBFCA}"/>
              </a:ext>
            </a:extLst>
          </p:cNvPr>
          <p:cNvSpPr>
            <a:spLocks noGrp="1"/>
          </p:cNvSpPr>
          <p:nvPr/>
        </p:nvSpPr>
        <p:spPr>
          <a:xfrm>
            <a:off x="723900" y="3143250"/>
            <a:ext cx="3048000" cy="1638300"/>
          </a:xfrm>
          <a:prstGeom prst="rect">
            <a:avLst/>
          </a:prstGeom>
          <a:solidFill>
            <a:srgbClr val="0B2027"/>
          </a:solidFill>
          <a:ln w="9525">
            <a:solidFill>
              <a:srgbClr val="2D4A53"/>
            </a:solidFill>
            <a:prstDash val="solid"/>
          </a:ln>
        </p:spPr>
      </p:sp>
      <p:sp>
        <p:nvSpPr>
          <p:cNvPr id="7" name="">
            <a:extLst>
              <a:ext uri="{FF2B5EF4-FFF2-40B4-BE49-F238E27FC236}">
                <ns3:creationId id="{1005F741-A81B-4E7B-8617-D59C753C4E87}"/>
              </a:ext>
            </a:extLst>
          </p:cNvPr>
          <p:cNvSpPr>
            <a:spLocks noGrp="1"/>
          </p:cNvSpPr>
          <p:nvPr/>
        </p:nvSpPr>
        <p:spPr>
          <a:xfrm>
            <a:off x="933450" y="335280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F5FAF8"/>
                </a:solidFill>
                <a:latin typeface="Aptos"/>
                <a:ea typeface="Aptos"/>
                <a:cs typeface="Aptos"/>
              </a:defRPr>
            </a:pPr>
            <a:r>
              <a:rPr sz="1065" b="0">
                <a:solidFill>
                  <a:srgbClr val="F5FAF8"/>
                </a:solidFill>
                <a:latin typeface="Aptos"/>
                <a:ea typeface="Aptos"/>
                <a:cs typeface="Aptos"/>
              </a:rPr>
              <a:t>Progression</a:t>
            </a:r>
          </a:p>
        </p:txBody>
      </p:sp>
      <p:sp>
        <p:nvSpPr>
          <p:cNvPr id="8" name="">
            <a:extLst>
              <a:ext uri="{FF2B5EF4-FFF2-40B4-BE49-F238E27FC236}">
                <ns3:creationId id="{F7D796E0-46EF-447B-B8D4-00EC38F9CAFC}"/>
              </a:ext>
            </a:extLst>
          </p:cNvPr>
          <p:cNvSpPr>
            <a:spLocks noGrp="1"/>
          </p:cNvSpPr>
          <p:nvPr/>
        </p:nvSpPr>
        <p:spPr>
          <a:xfrm>
            <a:off x="933450" y="3762375"/>
            <a:ext cx="47625" cy="47625"/>
          </a:xfrm>
          <a:prstGeom prst="rect">
            <a:avLst/>
          </a:prstGeom>
          <a:solidFill>
            <a:srgbClr val="8ED17A"/>
          </a:solidFill>
          <a:ln w="0">
            <a:solidFill>
              <a:srgbClr val="000000">
                <a:alpha val="0"/>
              </a:srgbClr>
            </a:solidFill>
            <a:prstDash val="solid"/>
          </a:ln>
        </p:spPr>
      </p:sp>
      <p:sp>
        <p:nvSpPr>
          <p:cNvPr id="9" name="">
            <a:extLst>
              <a:ext uri="{FF2B5EF4-FFF2-40B4-BE49-F238E27FC236}">
                <ns3:creationId id="{C1974479-37B4-4384-B9A0-A12ACD386A84}"/>
              </a:ext>
            </a:extLst>
          </p:cNvPr>
          <p:cNvSpPr>
            <a:spLocks noGrp="1"/>
          </p:cNvSpPr>
          <p:nvPr/>
        </p:nvSpPr>
        <p:spPr>
          <a:xfrm>
            <a:off x="1085850" y="369570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F5FAF8"/>
                </a:solidFill>
                <a:latin typeface="Aptos"/>
                <a:ea typeface="Aptos"/>
                <a:cs typeface="Aptos"/>
              </a:defRPr>
            </a:pPr>
            <a:r>
              <a:rPr sz="788" b="0">
                <a:solidFill>
                  <a:srgbClr val="F5FAF8"/>
                </a:solidFill>
                <a:latin typeface="Aptos"/>
                <a:ea typeface="Aptos"/>
                <a:cs typeface="Aptos"/>
              </a:rPr>
              <a:t>Better oxygen tanks</a:t>
            </a:r>
          </a:p>
        </p:txBody>
      </p:sp>
      <p:sp>
        <p:nvSpPr>
          <p:cNvPr id="10" name="">
            <a:extLst>
              <a:ext uri="{FF2B5EF4-FFF2-40B4-BE49-F238E27FC236}">
                <ns3:creationId id="{F7992B74-90A2-4D94-AE29-24D483FE2222}"/>
              </a:ext>
            </a:extLst>
          </p:cNvPr>
          <p:cNvSpPr>
            <a:spLocks noGrp="1"/>
          </p:cNvSpPr>
          <p:nvPr/>
        </p:nvSpPr>
        <p:spPr>
          <a:xfrm>
            <a:off x="933450" y="3971925"/>
            <a:ext cx="47625" cy="47625"/>
          </a:xfrm>
          <a:prstGeom prst="rect">
            <a:avLst/>
          </a:prstGeom>
          <a:solidFill>
            <a:srgbClr val="8ED17A"/>
          </a:solidFill>
          <a:ln w="0">
            <a:solidFill>
              <a:srgbClr val="000000">
                <a:alpha val="0"/>
              </a:srgbClr>
            </a:solidFill>
            <a:prstDash val="solid"/>
          </a:ln>
        </p:spPr>
      </p:sp>
      <p:sp>
        <p:nvSpPr>
          <p:cNvPr id="11" name="">
            <a:extLst>
              <a:ext uri="{FF2B5EF4-FFF2-40B4-BE49-F238E27FC236}">
                <ns3:creationId id="{507021DE-AE94-4D37-B8A7-85F65EFEDC62}"/>
              </a:ext>
            </a:extLst>
          </p:cNvPr>
          <p:cNvSpPr>
            <a:spLocks noGrp="1"/>
          </p:cNvSpPr>
          <p:nvPr/>
        </p:nvSpPr>
        <p:spPr>
          <a:xfrm>
            <a:off x="1085850" y="390525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F5FAF8"/>
                </a:solidFill>
                <a:latin typeface="Aptos"/>
                <a:ea typeface="Aptos"/>
                <a:cs typeface="Aptos"/>
              </a:defRPr>
            </a:pPr>
            <a:r>
              <a:rPr sz="788" b="0">
                <a:solidFill>
                  <a:srgbClr val="F5FAF8"/>
                </a:solidFill>
                <a:latin typeface="Aptos"/>
                <a:ea typeface="Aptos"/>
                <a:cs typeface="Aptos"/>
              </a:rPr>
              <a:t>Improved hand stamina</a:t>
            </a:r>
          </a:p>
        </p:txBody>
      </p:sp>
      <p:sp>
        <p:nvSpPr>
          <p:cNvPr id="12" name="">
            <a:extLst>
              <a:ext uri="{FF2B5EF4-FFF2-40B4-BE49-F238E27FC236}">
                <ns3:creationId id="{E3E6C15F-1BD1-4927-B903-891F3D775773}"/>
              </a:ext>
            </a:extLst>
          </p:cNvPr>
          <p:cNvSpPr>
            <a:spLocks noGrp="1"/>
          </p:cNvSpPr>
          <p:nvPr/>
        </p:nvSpPr>
        <p:spPr>
          <a:xfrm>
            <a:off x="933450" y="4181475"/>
            <a:ext cx="47625" cy="47625"/>
          </a:xfrm>
          <a:prstGeom prst="rect">
            <a:avLst/>
          </a:prstGeom>
          <a:solidFill>
            <a:srgbClr val="8ED17A"/>
          </a:solidFill>
          <a:ln w="0">
            <a:solidFill>
              <a:srgbClr val="000000">
                <a:alpha val="0"/>
              </a:srgbClr>
            </a:solidFill>
            <a:prstDash val="solid"/>
          </a:ln>
        </p:spPr>
      </p:sp>
      <p:sp>
        <p:nvSpPr>
          <p:cNvPr id="13" name="">
            <a:extLst>
              <a:ext uri="{FF2B5EF4-FFF2-40B4-BE49-F238E27FC236}">
                <ns3:creationId id="{8C6FFEF3-3551-44ED-87A9-0072C0D31AF5}"/>
              </a:ext>
            </a:extLst>
          </p:cNvPr>
          <p:cNvSpPr>
            <a:spLocks noGrp="1"/>
          </p:cNvSpPr>
          <p:nvPr/>
        </p:nvSpPr>
        <p:spPr>
          <a:xfrm>
            <a:off x="1085850" y="411480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F5FAF8"/>
                </a:solidFill>
                <a:latin typeface="Aptos"/>
                <a:ea typeface="Aptos"/>
                <a:cs typeface="Aptos"/>
              </a:defRPr>
            </a:pPr>
            <a:r>
              <a:rPr sz="788" b="0">
                <a:solidFill>
                  <a:srgbClr val="F5FAF8"/>
                </a:solidFill>
                <a:latin typeface="Aptos"/>
                <a:ea typeface="Aptos"/>
                <a:cs typeface="Aptos"/>
              </a:rPr>
              <a:t>Longer ropes</a:t>
            </a:r>
          </a:p>
        </p:txBody>
      </p:sp>
      <p:sp>
        <p:nvSpPr>
          <p:cNvPr id="14" name="">
            <a:extLst>
              <a:ext uri="{FF2B5EF4-FFF2-40B4-BE49-F238E27FC236}">
                <ns3:creationId id="{9105B0BA-00BB-47F2-9E8A-775971E5638A}"/>
              </a:ext>
            </a:extLst>
          </p:cNvPr>
          <p:cNvSpPr>
            <a:spLocks noGrp="1"/>
          </p:cNvSpPr>
          <p:nvPr/>
        </p:nvSpPr>
        <p:spPr>
          <a:xfrm>
            <a:off x="933450" y="4391025"/>
            <a:ext cx="47625" cy="47625"/>
          </a:xfrm>
          <a:prstGeom prst="rect">
            <a:avLst/>
          </a:prstGeom>
          <a:solidFill>
            <a:srgbClr val="8ED17A"/>
          </a:solidFill>
          <a:ln w="0">
            <a:solidFill>
              <a:srgbClr val="000000">
                <a:alpha val="0"/>
              </a:srgbClr>
            </a:solidFill>
            <a:prstDash val="solid"/>
          </a:ln>
        </p:spPr>
      </p:sp>
      <p:sp>
        <p:nvSpPr>
          <p:cNvPr id="15" name="">
            <a:extLst>
              <a:ext uri="{FF2B5EF4-FFF2-40B4-BE49-F238E27FC236}">
                <ns3:creationId id="{2BCCBA09-CEC8-4F1F-BFEF-F71A811221AE}"/>
              </a:ext>
            </a:extLst>
          </p:cNvPr>
          <p:cNvSpPr>
            <a:spLocks noGrp="1"/>
          </p:cNvSpPr>
          <p:nvPr/>
        </p:nvSpPr>
        <p:spPr>
          <a:xfrm>
            <a:off x="1085850" y="432435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F5FAF8"/>
                </a:solidFill>
                <a:latin typeface="Aptos"/>
                <a:ea typeface="Aptos"/>
                <a:cs typeface="Aptos"/>
              </a:defRPr>
            </a:pPr>
            <a:r>
              <a:rPr sz="788" b="0">
                <a:solidFill>
                  <a:srgbClr val="F5FAF8"/>
                </a:solidFill>
                <a:latin typeface="Aptos"/>
                <a:ea typeface="Aptos"/>
                <a:cs typeface="Aptos"/>
              </a:rPr>
              <a:t>Radios and climbing gadgets</a:t>
            </a:r>
          </a:p>
        </p:txBody>
      </p:sp>
      <p:sp>
        <p:nvSpPr>
          <p:cNvPr id="16" name="">
            <a:extLst>
              <a:ext uri="{FF2B5EF4-FFF2-40B4-BE49-F238E27FC236}">
                <ns3:creationId id="{D7685A17-5167-4461-960F-C84A123F98E0}"/>
              </a:ext>
            </a:extLst>
          </p:cNvPr>
          <p:cNvSpPr>
            <a:spLocks noGrp="1"/>
          </p:cNvSpPr>
          <p:nvPr/>
        </p:nvSpPr>
        <p:spPr>
          <a:xfrm>
            <a:off x="933450" y="4600575"/>
            <a:ext cx="47625" cy="47625"/>
          </a:xfrm>
          <a:prstGeom prst="rect">
            <a:avLst/>
          </a:prstGeom>
          <a:solidFill>
            <a:srgbClr val="8ED17A"/>
          </a:solidFill>
          <a:ln w="0">
            <a:solidFill>
              <a:srgbClr val="000000">
                <a:alpha val="0"/>
              </a:srgbClr>
            </a:solidFill>
            <a:prstDash val="solid"/>
          </a:ln>
        </p:spPr>
      </p:sp>
      <p:sp>
        <p:nvSpPr>
          <p:cNvPr id="17" name="">
            <a:extLst>
              <a:ext uri="{FF2B5EF4-FFF2-40B4-BE49-F238E27FC236}">
                <ns3:creationId id="{701F173D-997E-4DAF-B155-33752F70601B}"/>
              </a:ext>
            </a:extLst>
          </p:cNvPr>
          <p:cNvSpPr>
            <a:spLocks noGrp="1"/>
          </p:cNvSpPr>
          <p:nvPr/>
        </p:nvSpPr>
        <p:spPr>
          <a:xfrm>
            <a:off x="1085850" y="453390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F5FAF8"/>
                </a:solidFill>
                <a:latin typeface="Aptos"/>
                <a:ea typeface="Aptos"/>
                <a:cs typeface="Aptos"/>
              </a:defRPr>
            </a:pPr>
            <a:r>
              <a:rPr sz="788" b="0">
                <a:solidFill>
                  <a:srgbClr val="F5FAF8"/>
                </a:solidFill>
                <a:latin typeface="Aptos"/>
                <a:ea typeface="Aptos"/>
                <a:cs typeface="Aptos"/>
              </a:rPr>
              <a:t>New route access</a:t>
            </a:r>
          </a:p>
        </p:txBody>
      </p:sp>
      <p:sp>
        <p:nvSpPr>
          <p:cNvPr id="18" name="">
            <a:extLst>
              <a:ext uri="{FF2B5EF4-FFF2-40B4-BE49-F238E27FC236}">
                <ns3:creationId id="{49A3DD5B-88E9-4414-BA38-954B6808D528}"/>
              </a:ext>
            </a:extLst>
          </p:cNvPr>
          <p:cNvSpPr>
            <a:spLocks noGrp="1"/>
          </p:cNvSpPr>
          <p:nvPr/>
        </p:nvSpPr>
        <p:spPr>
          <a:xfrm>
            <a:off x="4210050" y="3143250"/>
            <a:ext cx="3429000" cy="1638300"/>
          </a:xfrm>
          <a:prstGeom prst="rect">
            <a:avLst/>
          </a:prstGeom>
          <a:solidFill>
            <a:srgbClr val="0B2027"/>
          </a:solidFill>
          <a:ln w="9525">
            <a:solidFill>
              <a:srgbClr val="2D4A53"/>
            </a:solidFill>
            <a:prstDash val="solid"/>
          </a:ln>
        </p:spPr>
      </p:sp>
      <p:sp>
        <p:nvSpPr>
          <p:cNvPr id="19" name="">
            <a:extLst>
              <a:ext uri="{FF2B5EF4-FFF2-40B4-BE49-F238E27FC236}">
                <ns3:creationId id="{9F1C5BBA-848E-4B71-A744-445B52F256AD}"/>
              </a:ext>
            </a:extLst>
          </p:cNvPr>
          <p:cNvSpPr>
            <a:spLocks noGrp="1"/>
          </p:cNvSpPr>
          <p:nvPr/>
        </p:nvSpPr>
        <p:spPr>
          <a:xfrm>
            <a:off x="4419600" y="335280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F5FAF8"/>
                </a:solidFill>
                <a:latin typeface="Aptos"/>
                <a:ea typeface="Aptos"/>
                <a:cs typeface="Aptos"/>
              </a:defRPr>
            </a:pPr>
            <a:r>
              <a:rPr sz="1065" b="0">
                <a:solidFill>
                  <a:srgbClr val="F5FAF8"/>
                </a:solidFill>
                <a:latin typeface="Aptos"/>
                <a:ea typeface="Aptos"/>
                <a:cs typeface="Aptos"/>
              </a:rPr>
              <a:t>Retention</a:t>
            </a:r>
          </a:p>
        </p:txBody>
      </p:sp>
      <p:sp>
        <p:nvSpPr>
          <p:cNvPr id="20" name="">
            <a:extLst>
              <a:ext uri="{FF2B5EF4-FFF2-40B4-BE49-F238E27FC236}">
                <ns3:creationId id="{FD8D7884-9D32-43F8-A441-AA01A36BEF68}"/>
              </a:ext>
            </a:extLst>
          </p:cNvPr>
          <p:cNvSpPr>
            <a:spLocks noGrp="1"/>
          </p:cNvSpPr>
          <p:nvPr/>
        </p:nvSpPr>
        <p:spPr>
          <a:xfrm>
            <a:off x="4419600" y="3762375"/>
            <a:ext cx="47625" cy="47625"/>
          </a:xfrm>
          <a:prstGeom prst="rect">
            <a:avLst/>
          </a:prstGeom>
          <a:solidFill>
            <a:srgbClr val="FFB55A"/>
          </a:solidFill>
          <a:ln w="0">
            <a:solidFill>
              <a:srgbClr val="000000">
                <a:alpha val="0"/>
              </a:srgbClr>
            </a:solidFill>
            <a:prstDash val="solid"/>
          </a:ln>
        </p:spPr>
      </p:sp>
      <p:sp>
        <p:nvSpPr>
          <p:cNvPr id="21" name="">
            <a:extLst>
              <a:ext uri="{FF2B5EF4-FFF2-40B4-BE49-F238E27FC236}">
                <ns3:creationId id="{CBD2AE81-69F8-4A22-8596-003E249F8EAA}"/>
              </a:ext>
            </a:extLst>
          </p:cNvPr>
          <p:cNvSpPr>
            <a:spLocks noGrp="1"/>
          </p:cNvSpPr>
          <p:nvPr/>
        </p:nvSpPr>
        <p:spPr>
          <a:xfrm>
            <a:off x="4572000" y="3695700"/>
            <a:ext cx="2705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F5FAF8"/>
                </a:solidFill>
                <a:latin typeface="Aptos"/>
                <a:ea typeface="Aptos"/>
                <a:cs typeface="Aptos"/>
              </a:defRPr>
            </a:pPr>
            <a:r>
              <a:rPr sz="773" b="0">
                <a:solidFill>
                  <a:srgbClr val="F5FAF8"/>
                </a:solidFill>
                <a:latin typeface="Aptos"/>
                <a:ea typeface="Aptos"/>
                <a:cs typeface="Aptos"/>
              </a:rPr>
              <a:t>Try a harder route</a:t>
            </a:r>
          </a:p>
        </p:txBody>
      </p:sp>
      <p:sp>
        <p:nvSpPr>
          <p:cNvPr id="22" name="">
            <a:extLst>
              <a:ext uri="{FF2B5EF4-FFF2-40B4-BE49-F238E27FC236}">
                <ns3:creationId id="{65F9EF57-3254-4CAA-BBBB-4D5F1E6FF68E}"/>
              </a:ext>
            </a:extLst>
          </p:cNvPr>
          <p:cNvSpPr>
            <a:spLocks noGrp="1"/>
          </p:cNvSpPr>
          <p:nvPr/>
        </p:nvSpPr>
        <p:spPr>
          <a:xfrm>
            <a:off x="4419600" y="3971925"/>
            <a:ext cx="47625" cy="47625"/>
          </a:xfrm>
          <a:prstGeom prst="rect">
            <a:avLst/>
          </a:prstGeom>
          <a:solidFill>
            <a:srgbClr val="FFB55A"/>
          </a:solidFill>
          <a:ln w="0">
            <a:solidFill>
              <a:srgbClr val="000000">
                <a:alpha val="0"/>
              </a:srgbClr>
            </a:solidFill>
            <a:prstDash val="solid"/>
          </a:ln>
        </p:spPr>
      </p:sp>
      <p:sp>
        <p:nvSpPr>
          <p:cNvPr id="23" name="">
            <a:extLst>
              <a:ext uri="{FF2B5EF4-FFF2-40B4-BE49-F238E27FC236}">
                <ns3:creationId id="{DDBBB92C-EFD0-445B-8A59-6E7E83FB785F}"/>
              </a:ext>
            </a:extLst>
          </p:cNvPr>
          <p:cNvSpPr>
            <a:spLocks noGrp="1"/>
          </p:cNvSpPr>
          <p:nvPr/>
        </p:nvSpPr>
        <p:spPr>
          <a:xfrm>
            <a:off x="4572000" y="3905250"/>
            <a:ext cx="2705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F5FAF8"/>
                </a:solidFill>
                <a:latin typeface="Aptos"/>
                <a:ea typeface="Aptos"/>
                <a:cs typeface="Aptos"/>
              </a:defRPr>
            </a:pPr>
            <a:r>
              <a:rPr sz="773" b="0">
                <a:solidFill>
                  <a:srgbClr val="F5FAF8"/>
                </a:solidFill>
                <a:latin typeface="Aptos"/>
                <a:ea typeface="Aptos"/>
                <a:cs typeface="Aptos"/>
              </a:rPr>
              <a:t>Return with another group</a:t>
            </a:r>
          </a:p>
        </p:txBody>
      </p:sp>
      <p:sp>
        <p:nvSpPr>
          <p:cNvPr id="24" name="">
            <a:extLst>
              <a:ext uri="{FF2B5EF4-FFF2-40B4-BE49-F238E27FC236}">
                <ns3:creationId id="{B2EAA0DA-5C25-4E1D-A1D6-1ADCC711A26A}"/>
              </a:ext>
            </a:extLst>
          </p:cNvPr>
          <p:cNvSpPr>
            <a:spLocks noGrp="1"/>
          </p:cNvSpPr>
          <p:nvPr/>
        </p:nvSpPr>
        <p:spPr>
          <a:xfrm>
            <a:off x="4419600" y="4181475"/>
            <a:ext cx="47625" cy="47625"/>
          </a:xfrm>
          <a:prstGeom prst="rect">
            <a:avLst/>
          </a:prstGeom>
          <a:solidFill>
            <a:srgbClr val="FFB55A"/>
          </a:solidFill>
          <a:ln w="0">
            <a:solidFill>
              <a:srgbClr val="000000">
                <a:alpha val="0"/>
              </a:srgbClr>
            </a:solidFill>
            <a:prstDash val="solid"/>
          </a:ln>
        </p:spPr>
      </p:sp>
      <p:sp>
        <p:nvSpPr>
          <p:cNvPr id="25" name="">
            <a:extLst>
              <a:ext uri="{FF2B5EF4-FFF2-40B4-BE49-F238E27FC236}">
                <ns3:creationId id="{5482A5BF-3D4F-4197-871B-CE4328000236}"/>
              </a:ext>
            </a:extLst>
          </p:cNvPr>
          <p:cNvSpPr>
            <a:spLocks noGrp="1"/>
          </p:cNvSpPr>
          <p:nvPr/>
        </p:nvSpPr>
        <p:spPr>
          <a:xfrm>
            <a:off x="4572000" y="4114800"/>
            <a:ext cx="2705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F5FAF8"/>
                </a:solidFill>
                <a:latin typeface="Aptos"/>
                <a:ea typeface="Aptos"/>
                <a:cs typeface="Aptos"/>
              </a:defRPr>
            </a:pPr>
            <a:r>
              <a:rPr sz="773" b="0">
                <a:solidFill>
                  <a:srgbClr val="F5FAF8"/>
                </a:solidFill>
                <a:latin typeface="Aptos"/>
                <a:ea typeface="Aptos"/>
                <a:cs typeface="Aptos"/>
              </a:rPr>
              <a:t>Recover from failed attempts</a:t>
            </a:r>
          </a:p>
        </p:txBody>
      </p:sp>
      <p:sp>
        <p:nvSpPr>
          <p:cNvPr id="26" name="">
            <a:extLst>
              <a:ext uri="{FF2B5EF4-FFF2-40B4-BE49-F238E27FC236}">
                <ns3:creationId id="{7E1E08CC-2BCC-49DA-A643-DFA593752D9C}"/>
              </a:ext>
            </a:extLst>
          </p:cNvPr>
          <p:cNvSpPr>
            <a:spLocks noGrp="1"/>
          </p:cNvSpPr>
          <p:nvPr/>
        </p:nvSpPr>
        <p:spPr>
          <a:xfrm>
            <a:off x="4419600" y="4391025"/>
            <a:ext cx="47625" cy="47625"/>
          </a:xfrm>
          <a:prstGeom prst="rect">
            <a:avLst/>
          </a:prstGeom>
          <a:solidFill>
            <a:srgbClr val="FFB55A"/>
          </a:solidFill>
          <a:ln w="0">
            <a:solidFill>
              <a:srgbClr val="000000">
                <a:alpha val="0"/>
              </a:srgbClr>
            </a:solidFill>
            <a:prstDash val="solid"/>
          </a:ln>
        </p:spPr>
      </p:sp>
      <p:sp>
        <p:nvSpPr>
          <p:cNvPr id="27" name="">
            <a:extLst>
              <a:ext uri="{FF2B5EF4-FFF2-40B4-BE49-F238E27FC236}">
                <ns3:creationId id="{39A7F5D6-158E-46E4-8ACF-3737319C3CEA}"/>
              </a:ext>
            </a:extLst>
          </p:cNvPr>
          <p:cNvSpPr>
            <a:spLocks noGrp="1"/>
          </p:cNvSpPr>
          <p:nvPr/>
        </p:nvSpPr>
        <p:spPr>
          <a:xfrm>
            <a:off x="4572000" y="4324350"/>
            <a:ext cx="2705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F5FAF8"/>
                </a:solidFill>
                <a:latin typeface="Aptos"/>
                <a:ea typeface="Aptos"/>
                <a:cs typeface="Aptos"/>
              </a:defRPr>
            </a:pPr>
            <a:r>
              <a:rPr sz="773" b="0">
                <a:solidFill>
                  <a:srgbClr val="F5FAF8"/>
                </a:solidFill>
                <a:latin typeface="Aptos"/>
                <a:ea typeface="Aptos"/>
                <a:cs typeface="Aptos"/>
              </a:rPr>
              <a:t>Create memorable co-op moments</a:t>
            </a:r>
          </a:p>
        </p:txBody>
      </p:sp>
      <p:sp>
        <p:nvSpPr>
          <p:cNvPr id="28" name="">
            <a:extLst>
              <a:ext uri="{FF2B5EF4-FFF2-40B4-BE49-F238E27FC236}">
                <ns3:creationId id="{40474A74-D9BD-488A-8D17-708E50A4E7BB}"/>
              </a:ext>
            </a:extLst>
          </p:cNvPr>
          <p:cNvSpPr>
            <a:spLocks noGrp="1"/>
          </p:cNvSpPr>
          <p:nvPr/>
        </p:nvSpPr>
        <p:spPr>
          <a:xfrm>
            <a:off x="4419600" y="4600575"/>
            <a:ext cx="47625" cy="47625"/>
          </a:xfrm>
          <a:prstGeom prst="rect">
            <a:avLst/>
          </a:prstGeom>
          <a:solidFill>
            <a:srgbClr val="FFB55A"/>
          </a:solidFill>
          <a:ln w="0">
            <a:solidFill>
              <a:srgbClr val="000000">
                <a:alpha val="0"/>
              </a:srgbClr>
            </a:solidFill>
            <a:prstDash val="solid"/>
          </a:ln>
        </p:spPr>
      </p:sp>
      <p:sp>
        <p:nvSpPr>
          <p:cNvPr id="29" name="">
            <a:extLst>
              <a:ext uri="{FF2B5EF4-FFF2-40B4-BE49-F238E27FC236}">
                <ns3:creationId id="{B22CD7DD-B6C7-46B5-9B3F-70AE793D759C}"/>
              </a:ext>
            </a:extLst>
          </p:cNvPr>
          <p:cNvSpPr>
            <a:spLocks noGrp="1"/>
          </p:cNvSpPr>
          <p:nvPr/>
        </p:nvSpPr>
        <p:spPr>
          <a:xfrm>
            <a:off x="4572000" y="4533900"/>
            <a:ext cx="2705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F5FAF8"/>
                </a:solidFill>
                <a:latin typeface="Aptos"/>
                <a:ea typeface="Aptos"/>
                <a:cs typeface="Aptos"/>
              </a:defRPr>
            </a:pPr>
            <a:r>
              <a:rPr sz="773" b="0">
                <a:solidFill>
                  <a:srgbClr val="F5FAF8"/>
                </a:solidFill>
                <a:latin typeface="Aptos"/>
                <a:ea typeface="Aptos"/>
                <a:cs typeface="Aptos"/>
              </a:rPr>
              <a:t>Reach the summit under different conditions</a:t>
            </a:r>
          </a:p>
        </p:txBody>
      </p:sp>
      <p:sp>
        <p:nvSpPr>
          <p:cNvPr id="30" name="">
            <a:extLst>
              <a:ext uri="{FF2B5EF4-FFF2-40B4-BE49-F238E27FC236}">
                <ns3:creationId id="{3C821DC8-3F6B-47A0-80E0-D2052848D83F}"/>
              </a:ext>
            </a:extLst>
          </p:cNvPr>
          <p:cNvSpPr>
            <a:spLocks noGrp="1"/>
          </p:cNvSpPr>
          <p:nvPr/>
        </p:nvSpPr>
        <p:spPr>
          <a:xfrm>
            <a:off x="8077200" y="3143250"/>
            <a:ext cx="2476500" cy="1638300"/>
          </a:xfrm>
          <a:prstGeom prst="rect">
            <a:avLst/>
          </a:prstGeom>
          <a:solidFill>
            <a:srgbClr val="0D2229"/>
          </a:solidFill>
          <a:ln w="9525">
            <a:solidFill>
              <a:srgbClr val="2E4C55"/>
            </a:solidFill>
            <a:prstDash val="solid"/>
          </a:ln>
        </p:spPr>
      </p:sp>
      <p:sp>
        <p:nvSpPr>
          <p:cNvPr id="31" name="">
            <a:extLst>
              <a:ext uri="{FF2B5EF4-FFF2-40B4-BE49-F238E27FC236}">
                <ns3:creationId id="{C625779F-FBBF-4877-AAF9-FCAAD96FFF34}"/>
              </a:ext>
            </a:extLst>
          </p:cNvPr>
          <p:cNvSpPr>
            <a:spLocks noGrp="1"/>
          </p:cNvSpPr>
          <p:nvPr/>
        </p:nvSpPr>
        <p:spPr>
          <a:xfrm>
            <a:off x="8077200" y="3143250"/>
            <a:ext cx="2476500" cy="47625"/>
          </a:xfrm>
          <a:prstGeom prst="rect">
            <a:avLst/>
          </a:prstGeom>
          <a:solidFill>
            <a:srgbClr val="8BD3E6"/>
          </a:solidFill>
          <a:ln w="0">
            <a:solidFill>
              <a:srgbClr val="000000">
                <a:alpha val="0"/>
              </a:srgbClr>
            </a:solidFill>
            <a:prstDash val="solid"/>
          </a:ln>
        </p:spPr>
      </p:sp>
      <p:sp>
        <p:nvSpPr>
          <p:cNvPr id="32" name="">
            <a:extLst>
              <a:ext uri="{FF2B5EF4-FFF2-40B4-BE49-F238E27FC236}">
                <ns3:creationId id="{CFBD5CBD-7663-4788-BB3D-6F056082AD0A}"/>
              </a:ext>
            </a:extLst>
          </p:cNvPr>
          <p:cNvSpPr>
            <a:spLocks noGrp="1"/>
          </p:cNvSpPr>
          <p:nvPr/>
        </p:nvSpPr>
        <p:spPr>
          <a:xfrm>
            <a:off x="8229600" y="3314700"/>
            <a:ext cx="2171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5FAF8"/>
                </a:solidFill>
                <a:latin typeface="Aptos"/>
                <a:ea typeface="Aptos"/>
                <a:cs typeface="Aptos"/>
              </a:defRPr>
            </a:pPr>
            <a:r>
              <a:rPr sz="1125" b="1">
                <a:solidFill>
                  <a:srgbClr val="F5FAF8"/>
                </a:solidFill>
                <a:latin typeface="Aptos"/>
                <a:ea typeface="Aptos"/>
                <a:cs typeface="Aptos"/>
              </a:rPr>
              <a:t>Business model</a:t>
            </a:r>
          </a:p>
        </p:txBody>
      </p:sp>
      <p:sp>
        <p:nvSpPr>
          <p:cNvPr id="33" name="">
            <a:extLst>
              <a:ext uri="{FF2B5EF4-FFF2-40B4-BE49-F238E27FC236}">
                <ns3:creationId id="{A6D02F3F-2AD4-4CA6-9474-125CB750E6A4}"/>
              </a:ext>
            </a:extLst>
          </p:cNvPr>
          <p:cNvSpPr>
            <a:spLocks noGrp="1"/>
          </p:cNvSpPr>
          <p:nvPr/>
        </p:nvSpPr>
        <p:spPr>
          <a:xfrm>
            <a:off x="8229600" y="3619500"/>
            <a:ext cx="21717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C8C7"/>
                </a:solidFill>
                <a:latin typeface="Aptos"/>
                <a:ea typeface="Aptos"/>
                <a:cs typeface="Aptos"/>
              </a:defRPr>
            </a:pPr>
            <a:r>
              <a:rPr sz="975" b="0">
                <a:solidFill>
                  <a:srgbClr val="B6C8C7"/>
                </a:solidFill>
                <a:latin typeface="Aptos"/>
                <a:ea typeface="Aptos"/>
                <a:cs typeface="Aptos"/>
              </a:rPr>
              <a:t>Premium Steam</a:t>
            </a:r>
          </a:p>
          <a:p>
            <a:pPr algn="l">
              <a:defRPr sz="975" b="0">
                <a:solidFill>
                  <a:srgbClr val="B6C8C7"/>
                </a:solidFill>
                <a:latin typeface="Aptos"/>
                <a:ea typeface="Aptos"/>
                <a:cs typeface="Aptos"/>
              </a:defRPr>
            </a:pPr>
            <a:r>
              <a:rPr sz="975" b="0">
                <a:solidFill>
                  <a:srgbClr val="B6C8C7"/>
                </a:solidFill>
                <a:latin typeface="Aptos"/>
                <a:ea typeface="Aptos"/>
                <a:cs typeface="Aptos"/>
              </a:rPr>
              <a:t>Buy once, invite friends, climb the mountain.</a:t>
            </a:r>
          </a:p>
        </p:txBody>
      </p:sp>
      <p:sp>
        <p:nvSpPr>
          <p:cNvPr id="34" name="">
            <a:extLst>
              <a:ext uri="{FF2B5EF4-FFF2-40B4-BE49-F238E27FC236}">
                <ns3:creationId id="{DFC8A2F2-88AA-475D-AA18-EC4CFACFF097}"/>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35" name="">
            <a:extLst>
              <a:ext uri="{FF2B5EF4-FFF2-40B4-BE49-F238E27FC236}">
                <ns3:creationId id="{55E66631-CDF2-467E-8A59-B5772ECFE6B9}"/>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07</a:t>
            </a:r>
          </a:p>
        </p:txBody>
      </p:sp>
    </p:spTree>
    <p:extLst>
      <p:ext uri="{BB962C8B-B14F-4D97-AF65-F5344CB8AC3E}">
        <ns4:creationId val="360703221"/>
      </p:ext>
    </p:extLst>
  </p:cSld>
</p:sld>
</file>

<file path=ppt/slides/slide8.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3" name="Berg alternating background 8"/>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85BACE6C-860C-486E-9112-DBF061FCD97E}"/>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8-marker">
            <a:extLst>
              <a:ext uri="{FF2B5EF4-FFF2-40B4-BE49-F238E27FC236}">
                <ns3:creationId id="{49ED02F6-167E-4439-A33F-926C6D8CB62E}"/>
              </a:ext>
            </a:extLst>
          </p:cNvPr>
          <p:cNvSpPr>
            <a:spLocks noGrp="1"/>
          </p:cNvSpPr>
          <p:nvPr/>
        </p:nvSpPr>
        <p:spPr>
          <a:xfrm>
            <a:off x="552450" y="514350"/>
            <a:ext cx="76200" cy="76200"/>
          </a:xfrm>
          <a:prstGeom prst="rect">
            <a:avLst/>
          </a:prstGeom>
          <a:solidFill>
            <a:srgbClr val="FFB55A"/>
          </a:solidFill>
          <a:ln w="0">
            <a:solidFill>
              <a:srgbClr val="000000">
                <a:alpha val="0"/>
              </a:srgbClr>
            </a:solidFill>
            <a:prstDash val="solid"/>
          </a:ln>
        </p:spPr>
      </p:sp>
      <p:sp>
        <p:nvSpPr>
          <p:cNvPr id="3" name="kicker-08-label">
            <a:extLst>
              <a:ext uri="{FF2B5EF4-FFF2-40B4-BE49-F238E27FC236}">
                <ns3:creationId id="{47547AAB-C5D0-412D-845D-C8A522A34540}"/>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MARKET POSITION</a:t>
            </a:r>
          </a:p>
        </p:txBody>
      </p:sp>
      <p:sp>
        <p:nvSpPr>
          <p:cNvPr id="4" name="">
            <a:extLst>
              <a:ext uri="{FF2B5EF4-FFF2-40B4-BE49-F238E27FC236}">
                <ns3:creationId id="{74F78248-5637-417D-B249-C13D84BE0472}"/>
              </a:ext>
            </a:extLst>
          </p:cNvPr>
          <p:cNvSpPr>
            <a:spLocks noGrp="1"/>
          </p:cNvSpPr>
          <p:nvPr/>
        </p:nvSpPr>
        <p:spPr>
          <a:xfrm>
            <a:off x="552450" y="952500"/>
            <a:ext cx="9525000" cy="7429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250" b="1">
                <a:solidFill>
                  <a:srgbClr val="F5FAF8"/>
                </a:solidFill>
                <a:latin typeface="Aptos Display"/>
                <a:ea typeface="Aptos Display"/>
                <a:cs typeface="Aptos Display"/>
              </a:defRPr>
            </a:pPr>
            <a:r>
              <a:rPr sz="2250" b="1">
                <a:solidFill>
                  <a:srgbClr val="F5FAF8"/>
                </a:solidFill>
                <a:latin typeface="Aptos Display"/>
                <a:ea typeface="Aptos Display"/>
                <a:cs typeface="Aptos Display"/>
              </a:rPr>
              <a:t>Climbing games show clear demand, but PC still has room for a grounded social alpine title.</a:t>
            </a:r>
          </a:p>
        </p:txBody>
      </p:sp>
      <p:sp>
        <p:nvSpPr>
          <p:cNvPr id="5" name="">
            <a:extLst>
              <a:ext uri="{FF2B5EF4-FFF2-40B4-BE49-F238E27FC236}">
                <ns3:creationId id="{D63B8623-76A8-447C-9BC3-3216F5D54AA0}"/>
              </a:ext>
            </a:extLst>
          </p:cNvPr>
          <p:cNvSpPr>
            <a:spLocks noGrp="1"/>
          </p:cNvSpPr>
          <p:nvPr/>
        </p:nvSpPr>
        <p:spPr>
          <a:xfrm>
            <a:off x="590550" y="1847850"/>
            <a:ext cx="9429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B6C8C7"/>
                </a:solidFill>
                <a:latin typeface="Aptos"/>
                <a:ea typeface="Aptos"/>
                <a:cs typeface="Aptos"/>
              </a:defRPr>
            </a:pPr>
            <a:r>
              <a:rPr sz="863" b="0">
                <a:solidFill>
                  <a:srgbClr val="B6C8C7"/>
                </a:solidFill>
                <a:latin typeface="Aptos"/>
                <a:ea typeface="Aptos"/>
                <a:cs typeface="Aptos"/>
              </a:rPr>
              <a:t>BERG is positioned between PEAK and more realistic Roblox climbing experiences such as K2 Climbing Simulator. The goal is a dedicated premium PC product, not a mod or platform-limited experience.</a:t>
            </a:r>
          </a:p>
        </p:txBody>
      </p:sp>
      <p:sp>
        <p:nvSpPr>
          <p:cNvPr id="6" name="">
            <a:extLst>
              <a:ext uri="{FF2B5EF4-FFF2-40B4-BE49-F238E27FC236}">
                <ns3:creationId id="{B28CFD58-0B16-4421-8388-4F5E65116D72}"/>
              </a:ext>
            </a:extLst>
          </p:cNvPr>
          <p:cNvSpPr>
            <a:spLocks noGrp="1"/>
          </p:cNvSpPr>
          <p:nvPr/>
        </p:nvSpPr>
        <p:spPr>
          <a:xfrm>
            <a:off x="590550" y="2667000"/>
            <a:ext cx="3200400" cy="1962150"/>
          </a:xfrm>
          <a:prstGeom prst="rect">
            <a:avLst/>
          </a:prstGeom>
          <a:solidFill>
            <a:srgbClr val="0D2229"/>
          </a:solidFill>
          <a:ln w="9525">
            <a:solidFill>
              <a:srgbClr val="2E4C55"/>
            </a:solidFill>
            <a:prstDash val="solid"/>
          </a:ln>
        </p:spPr>
      </p:sp>
      <p:sp>
        <p:nvSpPr>
          <p:cNvPr id="7" name="">
            <a:extLst>
              <a:ext uri="{FF2B5EF4-FFF2-40B4-BE49-F238E27FC236}">
                <ns3:creationId id="{C09E0F32-870A-4A85-91B6-530BC53D2BEF}"/>
              </a:ext>
            </a:extLst>
          </p:cNvPr>
          <p:cNvSpPr>
            <a:spLocks noGrp="1"/>
          </p:cNvSpPr>
          <p:nvPr/>
        </p:nvSpPr>
        <p:spPr>
          <a:xfrm>
            <a:off x="590550" y="2667000"/>
            <a:ext cx="3200400" cy="47625"/>
          </a:xfrm>
          <a:prstGeom prst="rect">
            <a:avLst/>
          </a:prstGeom>
          <a:solidFill>
            <a:srgbClr val="8ED17A"/>
          </a:solidFill>
          <a:ln w="0">
            <a:solidFill>
              <a:srgbClr val="000000">
                <a:alpha val="0"/>
              </a:srgbClr>
            </a:solidFill>
            <a:prstDash val="solid"/>
          </a:ln>
        </p:spPr>
      </p:sp>
      <p:sp>
        <p:nvSpPr>
          <p:cNvPr id="8" name="">
            <a:extLst>
              <a:ext uri="{FF2B5EF4-FFF2-40B4-BE49-F238E27FC236}">
                <ns3:creationId id="{CAFFC4C6-BA54-4CBC-9CDF-15206240BDA6}"/>
              </a:ext>
            </a:extLst>
          </p:cNvPr>
          <p:cNvSpPr>
            <a:spLocks noGrp="1"/>
          </p:cNvSpPr>
          <p:nvPr/>
        </p:nvSpPr>
        <p:spPr>
          <a:xfrm>
            <a:off x="742950" y="283845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PEAK</a:t>
            </a:r>
          </a:p>
        </p:txBody>
      </p:sp>
      <p:sp>
        <p:nvSpPr>
          <p:cNvPr id="9" name="">
            <a:extLst>
              <a:ext uri="{FF2B5EF4-FFF2-40B4-BE49-F238E27FC236}">
                <ns3:creationId id="{D6DE420D-2CC0-4ABC-9DE0-3B29EAF4751B}"/>
              </a:ext>
            </a:extLst>
          </p:cNvPr>
          <p:cNvSpPr>
            <a:spLocks noGrp="1"/>
          </p:cNvSpPr>
          <p:nvPr/>
        </p:nvSpPr>
        <p:spPr>
          <a:xfrm>
            <a:off x="742950" y="3143250"/>
            <a:ext cx="28956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85" b="0">
                <a:solidFill>
                  <a:srgbClr val="B6C8C7"/>
                </a:solidFill>
                <a:latin typeface="Aptos"/>
                <a:ea typeface="Aptos"/>
                <a:cs typeface="Aptos"/>
              </a:defRPr>
            </a:pPr>
            <a:r>
              <a:rPr sz="585" b="0">
                <a:solidFill>
                  <a:srgbClr val="B6C8C7"/>
                </a:solidFill>
                <a:latin typeface="Aptos"/>
                <a:ea typeface="Aptos"/>
                <a:cs typeface="Aptos"/>
              </a:rPr>
              <a:t>A strong reference for social climbing with broad streamer-friendly readability. Its tone is closer to fantasy, friendslop and comedy than to an atmospheric climbing simulation.</a:t>
            </a:r>
          </a:p>
          <a:p>
            <a:r>
              <a:t/>
            </a:r>
          </a:p>
          <a:p>
            <a:pPr algn="l">
              <a:defRPr sz="585" b="0">
                <a:solidFill>
                  <a:srgbClr val="B6C8C7"/>
                </a:solidFill>
                <a:latin typeface="Aptos"/>
                <a:ea typeface="Aptos"/>
                <a:cs typeface="Aptos"/>
              </a:defRPr>
            </a:pPr>
            <a:r>
              <a:rPr sz="585" b="0">
                <a:solidFill>
                  <a:srgbClr val="B6C8C7"/>
                </a:solidFill>
                <a:latin typeface="Aptos"/>
                <a:ea typeface="Aptos"/>
                <a:cs typeface="Aptos"/>
              </a:rPr>
              <a:t/>
            </a:r>
          </a:p>
          <a:p>
            <a:pPr algn="l">
              <a:defRPr sz="585" b="0">
                <a:solidFill>
                  <a:srgbClr val="B6C8C7"/>
                </a:solidFill>
                <a:latin typeface="Aptos"/>
                <a:ea typeface="Aptos"/>
                <a:cs typeface="Aptos"/>
              </a:defRPr>
            </a:pPr>
            <a:r>
              <a:rPr sz="585" b="0">
                <a:solidFill>
                  <a:srgbClr val="B6C8C7"/>
                </a:solidFill>
                <a:latin typeface="Aptos"/>
                <a:ea typeface="Aptos"/>
                <a:cs typeface="Aptos"/>
              </a:rPr>
              <a:t/>
            </a:r>
          </a:p>
        </p:txBody>
      </p:sp>
      <p:sp>
        <p:nvSpPr>
          <p:cNvPr id="10" name="">
            <a:extLst>
              <a:ext uri="{FF2B5EF4-FFF2-40B4-BE49-F238E27FC236}">
                <ns3:creationId id="{B19DDCD4-FCD0-4756-BFF2-E92ABD660247}"/>
              </a:ext>
            </a:extLst>
          </p:cNvPr>
          <p:cNvSpPr>
            <a:spLocks noGrp="1"/>
          </p:cNvSpPr>
          <p:nvPr/>
        </p:nvSpPr>
        <p:spPr>
          <a:xfrm>
            <a:off x="4400550" y="2667000"/>
            <a:ext cx="3200400" cy="1962150"/>
          </a:xfrm>
          <a:prstGeom prst="rect">
            <a:avLst/>
          </a:prstGeom>
          <a:solidFill>
            <a:srgbClr val="0D2229"/>
          </a:solidFill>
          <a:ln w="9525">
            <a:solidFill>
              <a:srgbClr val="2E4C55"/>
            </a:solidFill>
            <a:prstDash val="solid"/>
          </a:ln>
        </p:spPr>
      </p:sp>
      <p:sp>
        <p:nvSpPr>
          <p:cNvPr id="11" name="">
            <a:extLst>
              <a:ext uri="{FF2B5EF4-FFF2-40B4-BE49-F238E27FC236}">
                <ns3:creationId id="{9C8BFB98-AEE4-486F-8109-353F8C645B39}"/>
              </a:ext>
            </a:extLst>
          </p:cNvPr>
          <p:cNvSpPr>
            <a:spLocks noGrp="1"/>
          </p:cNvSpPr>
          <p:nvPr/>
        </p:nvSpPr>
        <p:spPr>
          <a:xfrm>
            <a:off x="4400550" y="2667000"/>
            <a:ext cx="3200400" cy="47625"/>
          </a:xfrm>
          <a:prstGeom prst="rect">
            <a:avLst/>
          </a:prstGeom>
          <a:solidFill>
            <a:srgbClr val="E64232"/>
          </a:solidFill>
          <a:ln w="0">
            <a:solidFill>
              <a:srgbClr val="000000">
                <a:alpha val="0"/>
              </a:srgbClr>
            </a:solidFill>
            <a:prstDash val="solid"/>
          </a:ln>
        </p:spPr>
      </p:sp>
      <p:sp>
        <p:nvSpPr>
          <p:cNvPr id="12" name="">
            <a:extLst>
              <a:ext uri="{FF2B5EF4-FFF2-40B4-BE49-F238E27FC236}">
                <ns3:creationId id="{1C3344ED-F947-4024-B05E-7B8ED7DF32DC}"/>
              </a:ext>
            </a:extLst>
          </p:cNvPr>
          <p:cNvSpPr>
            <a:spLocks noGrp="1"/>
          </p:cNvSpPr>
          <p:nvPr/>
        </p:nvSpPr>
        <p:spPr>
          <a:xfrm>
            <a:off x="4552950" y="283845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90" b="1">
                <a:solidFill>
                  <a:srgbClr val="F5FAF8"/>
                </a:solidFill>
                <a:latin typeface="Aptos"/>
                <a:ea typeface="Aptos"/>
                <a:cs typeface="Aptos"/>
              </a:defRPr>
            </a:pPr>
            <a:r>
              <a:rPr sz="990" b="1">
                <a:solidFill>
                  <a:srgbClr val="F5FAF8"/>
                </a:solidFill>
                <a:latin typeface="Aptos"/>
                <a:ea typeface="Aptos"/>
                <a:cs typeface="Aptos"/>
              </a:rPr>
              <a:t>BERG</a:t>
            </a:r>
          </a:p>
        </p:txBody>
      </p:sp>
      <p:sp>
        <p:nvSpPr>
          <p:cNvPr id="13" name="">
            <a:extLst>
              <a:ext uri="{FF2B5EF4-FFF2-40B4-BE49-F238E27FC236}">
                <ns3:creationId id="{971D81E5-F212-407F-AC8C-DB1BFB4ADDC2}"/>
              </a:ext>
            </a:extLst>
          </p:cNvPr>
          <p:cNvSpPr>
            <a:spLocks noGrp="1"/>
          </p:cNvSpPr>
          <p:nvPr/>
        </p:nvSpPr>
        <p:spPr>
          <a:xfrm>
            <a:off x="4552950" y="3143250"/>
            <a:ext cx="28956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0">
                <a:solidFill>
                  <a:srgbClr val="B6C8C7"/>
                </a:solidFill>
                <a:latin typeface="Aptos"/>
                <a:ea typeface="Aptos"/>
                <a:cs typeface="Aptos"/>
              </a:defRPr>
            </a:pPr>
            <a:r>
              <a:rPr sz="570" b="0">
                <a:solidFill>
                  <a:srgbClr val="B6C8C7"/>
                </a:solidFill>
                <a:latin typeface="Aptos"/>
                <a:ea typeface="Aptos"/>
                <a:cs typeface="Aptos"/>
              </a:rPr>
              <a:t>A dedicated premium PC climbing adventure set in the Bavarian Alps. BERG focuses on grounded atmosphere, route planning, weather pressure, proximity voice and shared-server expeditions.</a:t>
            </a:r>
          </a:p>
          <a:p>
            <a:r>
              <a:t/>
            </a:r>
          </a:p>
          <a:p>
            <a:pPr algn="l">
              <a:defRPr sz="570" b="0">
                <a:solidFill>
                  <a:srgbClr val="B6C8C7"/>
                </a:solidFill>
                <a:latin typeface="Aptos"/>
                <a:ea typeface="Aptos"/>
                <a:cs typeface="Aptos"/>
              </a:defRPr>
            </a:pPr>
            <a:r>
              <a:rPr sz="570" b="0">
                <a:solidFill>
                  <a:srgbClr val="B6C8C7"/>
                </a:solidFill>
                <a:latin typeface="Aptos"/>
                <a:ea typeface="Aptos"/>
                <a:cs typeface="Aptos"/>
              </a:rPr>
              <a:t/>
            </a:r>
          </a:p>
          <a:p>
            <a:pPr algn="l">
              <a:defRPr sz="570" b="0">
                <a:solidFill>
                  <a:srgbClr val="B6C8C7"/>
                </a:solidFill>
                <a:latin typeface="Aptos"/>
                <a:ea typeface="Aptos"/>
                <a:cs typeface="Aptos"/>
              </a:defRPr>
            </a:pPr>
            <a:r>
              <a:rPr sz="570" b="0">
                <a:solidFill>
                  <a:srgbClr val="B6C8C7"/>
                </a:solidFill>
                <a:latin typeface="Aptos"/>
                <a:ea typeface="Aptos"/>
                <a:cs typeface="Aptos"/>
              </a:rPr>
              <a:t/>
            </a:r>
          </a:p>
        </p:txBody>
      </p:sp>
      <p:sp>
        <p:nvSpPr>
          <p:cNvPr id="14" name="">
            <a:extLst>
              <a:ext uri="{FF2B5EF4-FFF2-40B4-BE49-F238E27FC236}">
                <ns3:creationId id="{06F7F430-34B8-468D-B276-A1129107C018}"/>
              </a:ext>
            </a:extLst>
          </p:cNvPr>
          <p:cNvSpPr>
            <a:spLocks noGrp="1"/>
          </p:cNvSpPr>
          <p:nvPr/>
        </p:nvSpPr>
        <p:spPr>
          <a:xfrm>
            <a:off x="8210550" y="2667000"/>
            <a:ext cx="3200400" cy="1962150"/>
          </a:xfrm>
          <a:prstGeom prst="rect">
            <a:avLst/>
          </a:prstGeom>
          <a:solidFill>
            <a:srgbClr val="0D2229"/>
          </a:solidFill>
          <a:ln w="9525">
            <a:solidFill>
              <a:srgbClr val="2E4C55"/>
            </a:solidFill>
            <a:prstDash val="solid"/>
          </a:ln>
        </p:spPr>
      </p:sp>
      <p:sp>
        <p:nvSpPr>
          <p:cNvPr id="15" name="">
            <a:extLst>
              <a:ext uri="{FF2B5EF4-FFF2-40B4-BE49-F238E27FC236}">
                <ns3:creationId id="{C3F81605-7EFD-4AE4-9A59-220F416E1CD5}"/>
              </a:ext>
            </a:extLst>
          </p:cNvPr>
          <p:cNvSpPr>
            <a:spLocks noGrp="1"/>
          </p:cNvSpPr>
          <p:nvPr/>
        </p:nvSpPr>
        <p:spPr>
          <a:xfrm>
            <a:off x="8210550" y="2667000"/>
            <a:ext cx="3200400" cy="47625"/>
          </a:xfrm>
          <a:prstGeom prst="rect">
            <a:avLst/>
          </a:prstGeom>
          <a:solidFill>
            <a:srgbClr val="FFB55A"/>
          </a:solidFill>
          <a:ln w="0">
            <a:solidFill>
              <a:srgbClr val="000000">
                <a:alpha val="0"/>
              </a:srgbClr>
            </a:solidFill>
            <a:prstDash val="solid"/>
          </a:ln>
        </p:spPr>
      </p:sp>
      <p:sp>
        <p:nvSpPr>
          <p:cNvPr id="16" name="">
            <a:extLst>
              <a:ext uri="{FF2B5EF4-FFF2-40B4-BE49-F238E27FC236}">
                <ns3:creationId id="{5AB1E0BE-E7AC-4CF6-8572-96266096FF50}"/>
              </a:ext>
            </a:extLst>
          </p:cNvPr>
          <p:cNvSpPr>
            <a:spLocks noGrp="1"/>
          </p:cNvSpPr>
          <p:nvPr/>
        </p:nvSpPr>
        <p:spPr>
          <a:xfrm>
            <a:off x="8362950" y="283845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Roblox K2 Climbing Simulator</a:t>
            </a:r>
          </a:p>
        </p:txBody>
      </p:sp>
      <p:sp>
        <p:nvSpPr>
          <p:cNvPr id="17" name="">
            <a:extLst>
              <a:ext uri="{FF2B5EF4-FFF2-40B4-BE49-F238E27FC236}">
                <ns3:creationId id="{D1A2A4D6-9E00-4A23-96BF-6D8E0681AAB9}"/>
              </a:ext>
            </a:extLst>
          </p:cNvPr>
          <p:cNvSpPr>
            <a:spLocks noGrp="1"/>
          </p:cNvSpPr>
          <p:nvPr/>
        </p:nvSpPr>
        <p:spPr>
          <a:xfrm>
            <a:off x="8362950" y="3143250"/>
            <a:ext cx="28956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8" b="0">
                <a:solidFill>
                  <a:srgbClr val="B6C8C7"/>
                </a:solidFill>
                <a:latin typeface="Aptos"/>
                <a:ea typeface="Aptos"/>
                <a:cs typeface="Aptos"/>
              </a:defRPr>
            </a:pPr>
            <a:r>
              <a:rPr sz="578" b="0">
                <a:solidFill>
                  <a:srgbClr val="B6C8C7"/>
                </a:solidFill>
                <a:latin typeface="Aptos"/>
                <a:ea typeface="Aptos"/>
                <a:cs typeface="Aptos"/>
              </a:rPr>
              <a:t>A proof that players respond to climb-to-summit progression and public mountain status. Roblox shows the demand, while BERG translates the appeal into a dedicated PC Steam product.</a:t>
            </a:r>
          </a:p>
          <a:p>
            <a:r>
              <a:t/>
            </a:r>
          </a:p>
          <a:p>
            <a:pPr algn="l">
              <a:defRPr sz="578" b="0">
                <a:solidFill>
                  <a:srgbClr val="B6C8C7"/>
                </a:solidFill>
                <a:latin typeface="Aptos"/>
                <a:ea typeface="Aptos"/>
                <a:cs typeface="Aptos"/>
              </a:defRPr>
            </a:pPr>
            <a:r>
              <a:rPr sz="578" b="0">
                <a:solidFill>
                  <a:srgbClr val="B6C8C7"/>
                </a:solidFill>
                <a:latin typeface="Aptos"/>
                <a:ea typeface="Aptos"/>
                <a:cs typeface="Aptos"/>
              </a:rPr>
              <a:t/>
            </a:r>
          </a:p>
          <a:p>
            <a:pPr algn="l">
              <a:defRPr sz="578" b="0">
                <a:solidFill>
                  <a:srgbClr val="B6C8C7"/>
                </a:solidFill>
                <a:latin typeface="Aptos"/>
                <a:ea typeface="Aptos"/>
                <a:cs typeface="Aptos"/>
              </a:defRPr>
            </a:pPr>
            <a:r>
              <a:rPr sz="578" b="0">
                <a:solidFill>
                  <a:srgbClr val="B6C8C7"/>
                </a:solidFill>
                <a:latin typeface="Aptos"/>
                <a:ea typeface="Aptos"/>
                <a:cs typeface="Aptos"/>
              </a:rPr>
              <a:t/>
            </a:r>
          </a:p>
        </p:txBody>
      </p:sp>
      <p:sp>
        <p:nvSpPr>
          <p:cNvPr id="18" name="">
            <a:extLst>
              <a:ext uri="{FF2B5EF4-FFF2-40B4-BE49-F238E27FC236}">
                <ns3:creationId id="{DDC7FA3D-A9D9-4355-9686-639A91F2A648}"/>
              </a:ext>
            </a:extLst>
          </p:cNvPr>
          <p:cNvSpPr>
            <a:spLocks noGrp="1"/>
          </p:cNvSpPr>
          <p:nvPr/>
        </p:nvSpPr>
        <p:spPr>
          <a:xfrm>
            <a:off x="590550" y="4857750"/>
            <a:ext cx="10648950" cy="742950"/>
          </a:xfrm>
          <a:prstGeom prst="rect">
            <a:avLst/>
          </a:prstGeom>
          <a:solidFill>
            <a:srgbClr val="102A32"/>
          </a:solidFill>
          <a:ln w="9525">
            <a:solidFill>
              <a:srgbClr val="E64232"/>
            </a:solidFill>
            <a:prstDash val="solid"/>
          </a:ln>
        </p:spPr>
      </p:sp>
      <p:sp>
        <p:nvSpPr>
          <p:cNvPr id="19" name="">
            <a:extLst>
              <a:ext uri="{FF2B5EF4-FFF2-40B4-BE49-F238E27FC236}">
                <ns3:creationId id="{5FDCD1E8-1FB6-40CA-87E0-6C3503F29BEF}"/>
              </a:ext>
            </a:extLst>
          </p:cNvPr>
          <p:cNvSpPr>
            <a:spLocks noGrp="1"/>
          </p:cNvSpPr>
          <p:nvPr/>
        </p:nvSpPr>
        <p:spPr>
          <a:xfrm>
            <a:off x="800100" y="50482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E64232"/>
                </a:solidFill>
                <a:latin typeface="Aptos"/>
                <a:ea typeface="Aptos"/>
                <a:cs typeface="Aptos"/>
              </a:defRPr>
            </a:pPr>
            <a:r>
              <a:rPr sz="788" b="0">
                <a:solidFill>
                  <a:srgbClr val="E64232"/>
                </a:solidFill>
                <a:latin typeface="Aptos"/>
                <a:ea typeface="Aptos"/>
                <a:cs typeface="Aptos"/>
              </a:rPr>
              <a:t>BERG difference</a:t>
            </a:r>
          </a:p>
        </p:txBody>
      </p:sp>
      <p:sp>
        <p:nvSpPr>
          <p:cNvPr id="20" name="">
            <a:extLst>
              <a:ext uri="{FF2B5EF4-FFF2-40B4-BE49-F238E27FC236}">
                <ns3:creationId id="{BA094D22-D55A-49C3-B8E7-7BB266BA3942}"/>
              </a:ext>
            </a:extLst>
          </p:cNvPr>
          <p:cNvSpPr>
            <a:spLocks noGrp="1"/>
          </p:cNvSpPr>
          <p:nvPr/>
        </p:nvSpPr>
        <p:spPr>
          <a:xfrm>
            <a:off x="2381250" y="5010150"/>
            <a:ext cx="8286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F5FAF8"/>
                </a:solidFill>
                <a:latin typeface="Aptos"/>
                <a:ea typeface="Aptos"/>
                <a:cs typeface="Aptos"/>
              </a:defRPr>
            </a:pPr>
            <a:r>
              <a:rPr sz="940" b="0">
                <a:solidFill>
                  <a:srgbClr val="F5FAF8"/>
                </a:solidFill>
                <a:latin typeface="Aptos"/>
                <a:ea typeface="Aptos"/>
                <a:cs typeface="Aptos"/>
              </a:rPr>
              <a:t>BERG combines PEAK's social readability with K2's climb-to-summit progression, then moves both toward a grounded PC Steam experience: Zugspitze setting, weather pressure, proximity voice and shared-server expeditions.</a:t>
            </a:r>
          </a:p>
        </p:txBody>
      </p:sp>
      <p:sp>
        <p:nvSpPr>
          <p:cNvPr id="21" name="">
            <a:extLst>
              <a:ext uri="{FF2B5EF4-FFF2-40B4-BE49-F238E27FC236}">
                <ns3:creationId id="{1EF8C8EE-F3E7-48F0-AAAA-86C7DEE5B127}"/>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22" name="">
            <a:extLst>
              <a:ext uri="{FF2B5EF4-FFF2-40B4-BE49-F238E27FC236}">
                <ns3:creationId id="{24F18730-C001-4E19-B2FE-0F1946BB8EB1}"/>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08</a:t>
            </a:r>
          </a:p>
        </p:txBody>
      </p:sp>
    </p:spTree>
    <p:extLst>
      <p:ext uri="{BB962C8B-B14F-4D97-AF65-F5344CB8AC3E}">
        <ns4:creationId val="1518288848"/>
      </p:ext>
    </p:extLst>
  </p:cSld>
</p:sld>
</file>

<file path=ppt/slides/slide9.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8" name="Berg alternating background 9"/>
          <p:cNvPicPr>
            <a:picLocks noChangeAspect="1"/>
          </p:cNvPicPr>
          <p:nvPr/>
        </p:nvPicPr>
        <p:blipFill>
          <a:blip r:embed="rBgImage"/>
          <a:srcRect l="424" t="0" r="424" b="0"/>
          <a:stretch>
            <a:fillRect l="0" t="0" r="0" b="0"/>
          </a:stretch>
        </p:blipFill>
        <p:spPr>
          <a:xfrm>
            <a:off x="0" y="0"/>
            <a:ext cx="12192000" cy="6858000"/>
          </a:xfrm>
          <a:prstGeom prst="rect">
            <a:avLst/>
          </a:prstGeom>
        </p:spPr>
      </p:pic>
      <p:sp>
        <p:nvSpPr>
          <p:cNvPr id="1" name="">
            <a:extLst>
              <a:ext uri="{FF2B5EF4-FFF2-40B4-BE49-F238E27FC236}">
                <ns3:creationId id="{315C3EC0-CD4D-4470-80EC-AAD1D56ED5B1}"/>
              </a:ext>
            </a:extLst>
          </p:cNvPr>
          <p:cNvSpPr>
            <a:spLocks noGrp="1"/>
          </p:cNvSpPr>
          <p:nvPr/>
        </p:nvSpPr>
        <p:spPr>
          <a:xfrm>
            <a:off x="0" y="0"/>
            <a:ext cx="12192000" cy="6858000"/>
          </a:xfrm>
          <a:prstGeom prst="rect">
            <a:avLst/>
          </a:prstGeom>
          <a:solidFill>
            <a:srgbClr val="02080A">
              <a:alpha val="84706"/>
            </a:srgbClr>
          </a:solidFill>
          <a:ln w="0">
            <a:solidFill>
              <a:srgbClr val="000000">
                <a:alpha val="0"/>
              </a:srgbClr>
            </a:solidFill>
            <a:prstDash val="solid"/>
          </a:ln>
        </p:spPr>
      </p:sp>
      <p:sp>
        <p:nvSpPr>
          <p:cNvPr id="2" name="kicker-09-marker">
            <a:extLst>
              <a:ext uri="{FF2B5EF4-FFF2-40B4-BE49-F238E27FC236}">
                <ns3:creationId id="{78E8D0DC-B2A0-4417-960B-4AE745D5EAD9}"/>
              </a:ext>
            </a:extLst>
          </p:cNvPr>
          <p:cNvSpPr>
            <a:spLocks noGrp="1"/>
          </p:cNvSpPr>
          <p:nvPr/>
        </p:nvSpPr>
        <p:spPr>
          <a:xfrm>
            <a:off x="552450" y="514350"/>
            <a:ext cx="76200" cy="76200"/>
          </a:xfrm>
          <a:prstGeom prst="rect">
            <a:avLst/>
          </a:prstGeom>
          <a:solidFill>
            <a:srgbClr val="8BD3E6"/>
          </a:solidFill>
          <a:ln w="0">
            <a:solidFill>
              <a:srgbClr val="000000">
                <a:alpha val="0"/>
              </a:srgbClr>
            </a:solidFill>
            <a:prstDash val="solid"/>
          </a:ln>
        </p:spPr>
      </p:sp>
      <p:sp>
        <p:nvSpPr>
          <p:cNvPr id="3" name="kicker-09-label">
            <a:extLst>
              <a:ext uri="{FF2B5EF4-FFF2-40B4-BE49-F238E27FC236}">
                <ns3:creationId id="{5436695A-A8B0-4357-A3B4-3E6FD7E64C1D}"/>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FFF BAYERN CONCEPT PHASE</a:t>
            </a:r>
          </a:p>
        </p:txBody>
      </p:sp>
      <p:sp>
        <p:nvSpPr>
          <p:cNvPr id="4" name="">
            <a:extLst>
              <a:ext uri="{FF2B5EF4-FFF2-40B4-BE49-F238E27FC236}">
                <ns3:creationId id="{BAFEB012-C0F7-4FA6-BA7E-3226F159D585}"/>
              </a:ext>
            </a:extLst>
          </p:cNvPr>
          <p:cNvSpPr>
            <a:spLocks noGrp="1"/>
          </p:cNvSpPr>
          <p:nvPr/>
        </p:nvSpPr>
        <p:spPr>
          <a:xfrm>
            <a:off x="552450" y="990600"/>
            <a:ext cx="7905750" cy="7429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550" b="1">
                <a:solidFill>
                  <a:srgbClr val="F5FAF8"/>
                </a:solidFill>
                <a:latin typeface="Aptos Display"/>
                <a:ea typeface="Aptos Display"/>
                <a:cs typeface="Aptos Display"/>
              </a:defRPr>
            </a:pPr>
            <a:r>
              <a:rPr sz="2550" b="1">
                <a:solidFill>
                  <a:srgbClr val="F5FAF8"/>
                </a:solidFill>
                <a:latin typeface="Aptos Display"/>
                <a:ea typeface="Aptos Display"/>
                <a:cs typeface="Aptos Display"/>
              </a:rPr>
              <a:t>The goal is to make BERG ready for further production funding.</a:t>
            </a:r>
          </a:p>
        </p:txBody>
      </p:sp>
      <p:sp>
        <p:nvSpPr>
          <p:cNvPr id="5" name="">
            <a:extLst>
              <a:ext uri="{FF2B5EF4-FFF2-40B4-BE49-F238E27FC236}">
                <ns3:creationId id="{C585A183-0A84-4BCD-89BE-E33CD373E664}"/>
              </a:ext>
            </a:extLst>
          </p:cNvPr>
          <p:cNvSpPr>
            <a:spLocks noGrp="1"/>
          </p:cNvSpPr>
          <p:nvPr/>
        </p:nvSpPr>
        <p:spPr>
          <a:xfrm>
            <a:off x="590550" y="1943100"/>
            <a:ext cx="7620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0" b="0">
                <a:solidFill>
                  <a:srgbClr val="B6C8C7"/>
                </a:solidFill>
                <a:latin typeface="Aptos"/>
                <a:ea typeface="Aptos"/>
                <a:cs typeface="Aptos"/>
              </a:defRPr>
            </a:pPr>
            <a:r>
              <a:rPr sz="930" b="0">
                <a:solidFill>
                  <a:srgbClr val="B6C8C7"/>
                </a:solidFill>
                <a:latin typeface="Aptos"/>
                <a:ea typeface="Aptos"/>
                <a:cs typeface="Aptos"/>
              </a:rPr>
              <a:t>The High Concept 2.0 phase is focused on clarifying the design, market positioning, technical scope and visual direction before moving into production.</a:t>
            </a:r>
          </a:p>
        </p:txBody>
      </p:sp>
      <p:sp>
        <p:nvSpPr>
          <p:cNvPr id="6" name="">
            <a:extLst>
              <a:ext uri="{FF2B5EF4-FFF2-40B4-BE49-F238E27FC236}">
                <ns3:creationId id="{167636FC-C21D-4FD5-AD0A-8BBCA426FBCB}"/>
              </a:ext>
            </a:extLst>
          </p:cNvPr>
          <p:cNvSpPr>
            <a:spLocks noGrp="1"/>
          </p:cNvSpPr>
          <p:nvPr/>
        </p:nvSpPr>
        <p:spPr>
          <a:xfrm>
            <a:off x="666750" y="3028950"/>
            <a:ext cx="3105150" cy="1257300"/>
          </a:xfrm>
          <a:prstGeom prst="rect">
            <a:avLst/>
          </a:prstGeom>
          <a:solidFill>
            <a:srgbClr val="0D2229"/>
          </a:solidFill>
          <a:ln w="9525">
            <a:solidFill>
              <a:srgbClr val="2E4C55"/>
            </a:solidFill>
            <a:prstDash val="solid"/>
          </a:ln>
        </p:spPr>
      </p:sp>
      <p:sp>
        <p:nvSpPr>
          <p:cNvPr id="7" name="">
            <a:extLst>
              <a:ext uri="{FF2B5EF4-FFF2-40B4-BE49-F238E27FC236}">
                <ns3:creationId id="{9CB72C4B-DF03-4826-8C3C-BF0D9D55A573}"/>
              </a:ext>
            </a:extLst>
          </p:cNvPr>
          <p:cNvSpPr>
            <a:spLocks noGrp="1"/>
          </p:cNvSpPr>
          <p:nvPr/>
        </p:nvSpPr>
        <p:spPr>
          <a:xfrm>
            <a:off x="666750" y="3028950"/>
            <a:ext cx="3105150" cy="47625"/>
          </a:xfrm>
          <a:prstGeom prst="rect">
            <a:avLst/>
          </a:prstGeom>
          <a:solidFill>
            <a:srgbClr val="8BD3E6"/>
          </a:solidFill>
          <a:ln w="0">
            <a:solidFill>
              <a:srgbClr val="000000">
                <a:alpha val="0"/>
              </a:srgbClr>
            </a:solidFill>
            <a:prstDash val="solid"/>
          </a:ln>
        </p:spPr>
      </p:sp>
      <p:sp>
        <p:nvSpPr>
          <p:cNvPr id="8" name="">
            <a:extLst>
              <a:ext uri="{FF2B5EF4-FFF2-40B4-BE49-F238E27FC236}">
                <ns3:creationId id="{97DE2D60-E817-4942-942A-E55799A0FE26}"/>
              </a:ext>
            </a:extLst>
          </p:cNvPr>
          <p:cNvSpPr>
            <a:spLocks noGrp="1"/>
          </p:cNvSpPr>
          <p:nvPr/>
        </p:nvSpPr>
        <p:spPr>
          <a:xfrm>
            <a:off x="819150" y="3200400"/>
            <a:ext cx="2800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5FAF8"/>
                </a:solidFill>
                <a:latin typeface="Aptos"/>
                <a:ea typeface="Aptos"/>
                <a:cs typeface="Aptos"/>
              </a:defRPr>
            </a:pPr>
            <a:r>
              <a:rPr sz="1125" b="1">
                <a:solidFill>
                  <a:srgbClr val="F5FAF8"/>
                </a:solidFill>
                <a:latin typeface="Aptos"/>
                <a:ea typeface="Aptos"/>
                <a:cs typeface="Aptos"/>
              </a:rPr>
              <a:t>High Concept 2.0</a:t>
            </a:r>
          </a:p>
        </p:txBody>
      </p:sp>
      <p:sp>
        <p:nvSpPr>
          <p:cNvPr id="9" name="">
            <a:extLst>
              <a:ext uri="{FF2B5EF4-FFF2-40B4-BE49-F238E27FC236}">
                <ns3:creationId id="{3A1B3EB9-1B5B-4558-AA5B-129A7000A283}"/>
              </a:ext>
            </a:extLst>
          </p:cNvPr>
          <p:cNvSpPr>
            <a:spLocks noGrp="1"/>
          </p:cNvSpPr>
          <p:nvPr/>
        </p:nvSpPr>
        <p:spPr>
          <a:xfrm>
            <a:off x="819150" y="3505200"/>
            <a:ext cx="280035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C8C7"/>
                </a:solidFill>
                <a:latin typeface="Aptos"/>
                <a:ea typeface="Aptos"/>
                <a:cs typeface="Aptos"/>
              </a:defRPr>
            </a:pPr>
            <a:r>
              <a:rPr sz="825" b="0">
                <a:solidFill>
                  <a:srgbClr val="B6C8C7"/>
                </a:solidFill>
                <a:latin typeface="Aptos"/>
                <a:ea typeface="Aptos"/>
                <a:cs typeface="Aptos"/>
              </a:rPr>
              <a:t>A polished English concept deck and written design thesis for FFF follow-up evaluation.</a:t>
            </a:r>
          </a:p>
        </p:txBody>
      </p:sp>
      <p:sp>
        <p:nvSpPr>
          <p:cNvPr id="10" name="">
            <a:extLst>
              <a:ext uri="{FF2B5EF4-FFF2-40B4-BE49-F238E27FC236}">
                <ns3:creationId id="{C6D2AC01-EE2F-475C-9511-80410E6E27EF}"/>
              </a:ext>
            </a:extLst>
          </p:cNvPr>
          <p:cNvSpPr>
            <a:spLocks noGrp="1"/>
          </p:cNvSpPr>
          <p:nvPr/>
        </p:nvSpPr>
        <p:spPr>
          <a:xfrm>
            <a:off x="4114800" y="3028950"/>
            <a:ext cx="3105150" cy="1257300"/>
          </a:xfrm>
          <a:prstGeom prst="rect">
            <a:avLst/>
          </a:prstGeom>
          <a:solidFill>
            <a:srgbClr val="0B2027"/>
          </a:solidFill>
          <a:ln w="9525">
            <a:solidFill>
              <a:srgbClr val="2D4A53"/>
            </a:solidFill>
            <a:prstDash val="solid"/>
          </a:ln>
        </p:spPr>
      </p:sp>
      <p:sp>
        <p:nvSpPr>
          <p:cNvPr id="11" name="">
            <a:extLst>
              <a:ext uri="{FF2B5EF4-FFF2-40B4-BE49-F238E27FC236}">
                <ns3:creationId id="{5EA0970D-6F79-4360-A475-963CD6758097}"/>
              </a:ext>
            </a:extLst>
          </p:cNvPr>
          <p:cNvSpPr>
            <a:spLocks noGrp="1"/>
          </p:cNvSpPr>
          <p:nvPr/>
        </p:nvSpPr>
        <p:spPr>
          <a:xfrm>
            <a:off x="4324350" y="323850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5" b="0">
                <a:solidFill>
                  <a:srgbClr val="F5FAF8"/>
                </a:solidFill>
                <a:latin typeface="Aptos"/>
                <a:ea typeface="Aptos"/>
                <a:cs typeface="Aptos"/>
              </a:defRPr>
            </a:pPr>
            <a:r>
              <a:rPr sz="1005" b="0">
                <a:solidFill>
                  <a:srgbClr val="F5FAF8"/>
                </a:solidFill>
                <a:latin typeface="Aptos"/>
                <a:ea typeface="Aptos"/>
                <a:cs typeface="Aptos"/>
              </a:rPr>
              <a:t>Additional concept-phase deliverables</a:t>
            </a:r>
          </a:p>
        </p:txBody>
      </p:sp>
      <p:sp>
        <p:nvSpPr>
          <p:cNvPr id="12" name="">
            <a:extLst>
              <a:ext uri="{FF2B5EF4-FFF2-40B4-BE49-F238E27FC236}">
                <ns3:creationId id="{AC894938-2221-4CE8-BCD8-CF9A4CB6CE03}"/>
              </a:ext>
            </a:extLst>
          </p:cNvPr>
          <p:cNvSpPr>
            <a:spLocks noGrp="1"/>
          </p:cNvSpPr>
          <p:nvPr/>
        </p:nvSpPr>
        <p:spPr>
          <a:xfrm>
            <a:off x="4324350" y="3667125"/>
            <a:ext cx="47625" cy="47625"/>
          </a:xfrm>
          <a:prstGeom prst="rect">
            <a:avLst/>
          </a:prstGeom>
          <a:solidFill>
            <a:srgbClr val="FFB55A"/>
          </a:solidFill>
          <a:ln w="0">
            <a:solidFill>
              <a:srgbClr val="000000">
                <a:alpha val="0"/>
              </a:srgbClr>
            </a:solidFill>
            <a:prstDash val="solid"/>
          </a:ln>
        </p:spPr>
      </p:sp>
      <p:sp>
        <p:nvSpPr>
          <p:cNvPr id="13" name="">
            <a:extLst>
              <a:ext uri="{FF2B5EF4-FFF2-40B4-BE49-F238E27FC236}">
                <ns3:creationId id="{3790C989-62DC-44EA-A45F-65AEB65E1CA4}"/>
              </a:ext>
            </a:extLst>
          </p:cNvPr>
          <p:cNvSpPr>
            <a:spLocks noGrp="1"/>
          </p:cNvSpPr>
          <p:nvPr/>
        </p:nvSpPr>
        <p:spPr>
          <a:xfrm>
            <a:off x="4476750" y="360045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F5FAF8"/>
                </a:solidFill>
                <a:latin typeface="Aptos"/>
                <a:ea typeface="Aptos"/>
                <a:cs typeface="Aptos"/>
              </a:defRPr>
            </a:pPr>
            <a:r>
              <a:rPr sz="750" b="0">
                <a:solidFill>
                  <a:srgbClr val="F5FAF8"/>
                </a:solidFill>
                <a:latin typeface="Aptos"/>
                <a:ea typeface="Aptos"/>
                <a:cs typeface="Aptos"/>
              </a:rPr>
              <a:t>GDD 1.0</a:t>
            </a:r>
          </a:p>
        </p:txBody>
      </p:sp>
      <p:sp>
        <p:nvSpPr>
          <p:cNvPr id="14" name="">
            <a:extLst>
              <a:ext uri="{FF2B5EF4-FFF2-40B4-BE49-F238E27FC236}">
                <ns3:creationId id="{B2EA2608-8D12-476F-964C-FD1406922932}"/>
              </a:ext>
            </a:extLst>
          </p:cNvPr>
          <p:cNvSpPr>
            <a:spLocks noGrp="1"/>
          </p:cNvSpPr>
          <p:nvPr/>
        </p:nvSpPr>
        <p:spPr>
          <a:xfrm>
            <a:off x="4324350" y="3895725"/>
            <a:ext cx="47625" cy="47625"/>
          </a:xfrm>
          <a:prstGeom prst="rect">
            <a:avLst/>
          </a:prstGeom>
          <a:solidFill>
            <a:srgbClr val="FFB55A"/>
          </a:solidFill>
          <a:ln w="0">
            <a:solidFill>
              <a:srgbClr val="000000">
                <a:alpha val="0"/>
              </a:srgbClr>
            </a:solidFill>
            <a:prstDash val="solid"/>
          </a:ln>
        </p:spPr>
      </p:sp>
      <p:sp>
        <p:nvSpPr>
          <p:cNvPr id="15" name="">
            <a:extLst>
              <a:ext uri="{FF2B5EF4-FFF2-40B4-BE49-F238E27FC236}">
                <ns3:creationId id="{5E6D4259-793B-4358-8427-54716E0ED924}"/>
              </a:ext>
            </a:extLst>
          </p:cNvPr>
          <p:cNvSpPr>
            <a:spLocks noGrp="1"/>
          </p:cNvSpPr>
          <p:nvPr/>
        </p:nvSpPr>
        <p:spPr>
          <a:xfrm>
            <a:off x="4476750" y="382905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F5FAF8"/>
                </a:solidFill>
                <a:latin typeface="Aptos"/>
                <a:ea typeface="Aptos"/>
                <a:cs typeface="Aptos"/>
              </a:defRPr>
            </a:pPr>
            <a:r>
              <a:rPr sz="750" b="0">
                <a:solidFill>
                  <a:srgbClr val="F5FAF8"/>
                </a:solidFill>
                <a:latin typeface="Aptos"/>
                <a:ea typeface="Aptos"/>
                <a:cs typeface="Aptos"/>
              </a:rPr>
              <a:t>Financial plan</a:t>
            </a:r>
          </a:p>
        </p:txBody>
      </p:sp>
      <p:sp>
        <p:nvSpPr>
          <p:cNvPr id="16" name="">
            <a:extLst>
              <a:ext uri="{FF2B5EF4-FFF2-40B4-BE49-F238E27FC236}">
                <ns3:creationId id="{C22F7D06-6FF9-4100-BA52-649058555373}"/>
              </a:ext>
            </a:extLst>
          </p:cNvPr>
          <p:cNvSpPr>
            <a:spLocks noGrp="1"/>
          </p:cNvSpPr>
          <p:nvPr/>
        </p:nvSpPr>
        <p:spPr>
          <a:xfrm>
            <a:off x="4324350" y="4124325"/>
            <a:ext cx="47625" cy="47625"/>
          </a:xfrm>
          <a:prstGeom prst="rect">
            <a:avLst/>
          </a:prstGeom>
          <a:solidFill>
            <a:srgbClr val="FFB55A"/>
          </a:solidFill>
          <a:ln w="0">
            <a:solidFill>
              <a:srgbClr val="000000">
                <a:alpha val="0"/>
              </a:srgbClr>
            </a:solidFill>
            <a:prstDash val="solid"/>
          </a:ln>
        </p:spPr>
      </p:sp>
      <p:sp>
        <p:nvSpPr>
          <p:cNvPr id="17" name="">
            <a:extLst>
              <a:ext uri="{FF2B5EF4-FFF2-40B4-BE49-F238E27FC236}">
                <ns3:creationId id="{94DD1819-9FAF-44A0-8885-DA00A6615592}"/>
              </a:ext>
            </a:extLst>
          </p:cNvPr>
          <p:cNvSpPr>
            <a:spLocks noGrp="1"/>
          </p:cNvSpPr>
          <p:nvPr/>
        </p:nvSpPr>
        <p:spPr>
          <a:xfrm>
            <a:off x="4476750" y="4057650"/>
            <a:ext cx="2324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F5FAF8"/>
                </a:solidFill>
                <a:latin typeface="Aptos"/>
                <a:ea typeface="Aptos"/>
                <a:cs typeface="Aptos"/>
              </a:defRPr>
            </a:pPr>
            <a:r>
              <a:rPr sz="750" b="0">
                <a:solidFill>
                  <a:srgbClr val="F5FAF8"/>
                </a:solidFill>
                <a:latin typeface="Aptos"/>
                <a:ea typeface="Aptos"/>
                <a:cs typeface="Aptos"/>
              </a:rPr>
              <a:t>Cost plan for a future prototype funding application</a:t>
            </a:r>
          </a:p>
        </p:txBody>
      </p:sp>
      <p:sp>
        <p:nvSpPr>
          <p:cNvPr id="18" name="">
            <a:extLst>
              <a:ext uri="{FF2B5EF4-FFF2-40B4-BE49-F238E27FC236}">
                <ns3:creationId id="{D4692150-6C85-4E08-8A92-919D40BCAE81}"/>
              </a:ext>
            </a:extLst>
          </p:cNvPr>
          <p:cNvSpPr>
            <a:spLocks noGrp="1"/>
          </p:cNvSpPr>
          <p:nvPr/>
        </p:nvSpPr>
        <p:spPr>
          <a:xfrm>
            <a:off x="7562850" y="3028950"/>
            <a:ext cx="3105150" cy="1257300"/>
          </a:xfrm>
          <a:prstGeom prst="rect">
            <a:avLst/>
          </a:prstGeom>
          <a:solidFill>
            <a:srgbClr val="0D2229"/>
          </a:solidFill>
          <a:ln w="9525">
            <a:solidFill>
              <a:srgbClr val="2E4C55"/>
            </a:solidFill>
            <a:prstDash val="solid"/>
          </a:ln>
        </p:spPr>
      </p:sp>
      <p:sp>
        <p:nvSpPr>
          <p:cNvPr id="19" name="">
            <a:extLst>
              <a:ext uri="{FF2B5EF4-FFF2-40B4-BE49-F238E27FC236}">
                <ns3:creationId id="{20DF5E85-3B28-44C5-9106-2C7796F6898B}"/>
              </a:ext>
            </a:extLst>
          </p:cNvPr>
          <p:cNvSpPr>
            <a:spLocks noGrp="1"/>
          </p:cNvSpPr>
          <p:nvPr/>
        </p:nvSpPr>
        <p:spPr>
          <a:xfrm>
            <a:off x="7562850" y="3028950"/>
            <a:ext cx="3105150" cy="47625"/>
          </a:xfrm>
          <a:prstGeom prst="rect">
            <a:avLst/>
          </a:prstGeom>
          <a:solidFill>
            <a:srgbClr val="8ED17A"/>
          </a:solidFill>
          <a:ln w="0">
            <a:solidFill>
              <a:srgbClr val="000000">
                <a:alpha val="0"/>
              </a:srgbClr>
            </a:solidFill>
            <a:prstDash val="solid"/>
          </a:ln>
        </p:spPr>
      </p:sp>
      <p:sp>
        <p:nvSpPr>
          <p:cNvPr id="20" name="">
            <a:extLst>
              <a:ext uri="{FF2B5EF4-FFF2-40B4-BE49-F238E27FC236}">
                <ns3:creationId id="{ABEE48AD-0289-42F0-A2AA-CC0B77598653}"/>
              </a:ext>
            </a:extLst>
          </p:cNvPr>
          <p:cNvSpPr>
            <a:spLocks noGrp="1"/>
          </p:cNvSpPr>
          <p:nvPr/>
        </p:nvSpPr>
        <p:spPr>
          <a:xfrm>
            <a:off x="7715250" y="3200400"/>
            <a:ext cx="2800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5FAF8"/>
                </a:solidFill>
                <a:latin typeface="Aptos"/>
                <a:ea typeface="Aptos"/>
                <a:cs typeface="Aptos"/>
              </a:defRPr>
            </a:pPr>
            <a:r>
              <a:rPr sz="1125" b="1">
                <a:solidFill>
                  <a:srgbClr val="F5FAF8"/>
                </a:solidFill>
                <a:latin typeface="Aptos"/>
                <a:ea typeface="Aptos"/>
                <a:cs typeface="Aptos"/>
              </a:rPr>
              <a:t>Bavarian relevance</a:t>
            </a:r>
          </a:p>
        </p:txBody>
      </p:sp>
      <p:sp>
        <p:nvSpPr>
          <p:cNvPr id="21" name="">
            <a:extLst>
              <a:ext uri="{FF2B5EF4-FFF2-40B4-BE49-F238E27FC236}">
                <ns3:creationId id="{C899FFE4-6F13-47E1-BEED-CBB0110A6F79}"/>
              </a:ext>
            </a:extLst>
          </p:cNvPr>
          <p:cNvSpPr>
            <a:spLocks noGrp="1"/>
          </p:cNvSpPr>
          <p:nvPr/>
        </p:nvSpPr>
        <p:spPr>
          <a:xfrm>
            <a:off x="7715250" y="3505200"/>
            <a:ext cx="280035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B6C8C7"/>
                </a:solidFill>
                <a:latin typeface="Aptos"/>
                <a:ea typeface="Aptos"/>
                <a:cs typeface="Aptos"/>
              </a:defRPr>
            </a:pPr>
            <a:r>
              <a:rPr sz="810" b="0">
                <a:solidFill>
                  <a:srgbClr val="B6C8C7"/>
                </a:solidFill>
                <a:latin typeface="Aptos"/>
                <a:ea typeface="Aptos"/>
                <a:cs typeface="Aptos"/>
              </a:rPr>
              <a:t>The Zugspitze and the German Alps give the project a clear local cultural and geographic anchor.</a:t>
            </a:r>
          </a:p>
        </p:txBody>
      </p:sp>
      <p:sp>
        <p:nvSpPr>
          <p:cNvPr id="22" name="">
            <a:extLst>
              <a:ext uri="{FF2B5EF4-FFF2-40B4-BE49-F238E27FC236}">
                <ns3:creationId id="{9D211D79-02EC-4328-8C7E-4EFDE16419BE}"/>
              </a:ext>
            </a:extLst>
          </p:cNvPr>
          <p:cNvSpPr>
            <a:spLocks noGrp="1"/>
          </p:cNvSpPr>
          <p:nvPr/>
        </p:nvSpPr>
        <p:spPr>
          <a:xfrm>
            <a:off x="666750" y="4819650"/>
            <a:ext cx="6572250" cy="742950"/>
          </a:xfrm>
          <a:prstGeom prst="rect">
            <a:avLst/>
          </a:prstGeom>
          <a:solidFill>
            <a:srgbClr val="0D2229"/>
          </a:solidFill>
          <a:ln w="9525">
            <a:solidFill>
              <a:srgbClr val="2E4C55"/>
            </a:solidFill>
            <a:prstDash val="solid"/>
          </a:ln>
        </p:spPr>
      </p:sp>
      <p:sp>
        <p:nvSpPr>
          <p:cNvPr id="23" name="">
            <a:extLst>
              <a:ext uri="{FF2B5EF4-FFF2-40B4-BE49-F238E27FC236}">
                <ns3:creationId id="{3898F140-3F99-4711-9D3E-612B23B2C115}"/>
              </a:ext>
            </a:extLst>
          </p:cNvPr>
          <p:cNvSpPr>
            <a:spLocks noGrp="1"/>
          </p:cNvSpPr>
          <p:nvPr/>
        </p:nvSpPr>
        <p:spPr>
          <a:xfrm>
            <a:off x="666750" y="4819650"/>
            <a:ext cx="6572250" cy="47625"/>
          </a:xfrm>
          <a:prstGeom prst="rect">
            <a:avLst/>
          </a:prstGeom>
          <a:solidFill>
            <a:srgbClr val="E64232"/>
          </a:solidFill>
          <a:ln w="0">
            <a:solidFill>
              <a:srgbClr val="000000">
                <a:alpha val="0"/>
              </a:srgbClr>
            </a:solidFill>
            <a:prstDash val="solid"/>
          </a:ln>
        </p:spPr>
      </p:sp>
      <p:sp>
        <p:nvSpPr>
          <p:cNvPr id="24" name="">
            <a:extLst>
              <a:ext uri="{FF2B5EF4-FFF2-40B4-BE49-F238E27FC236}">
                <ns3:creationId id="{85DC2BBA-769B-483E-BD9B-97A140A85D51}"/>
              </a:ext>
            </a:extLst>
          </p:cNvPr>
          <p:cNvSpPr>
            <a:spLocks noGrp="1"/>
          </p:cNvSpPr>
          <p:nvPr/>
        </p:nvSpPr>
        <p:spPr>
          <a:xfrm>
            <a:off x="819150" y="4991100"/>
            <a:ext cx="6267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Generative AI disclosure</a:t>
            </a:r>
          </a:p>
        </p:txBody>
      </p:sp>
      <p:sp>
        <p:nvSpPr>
          <p:cNvPr id="25" name="">
            <a:extLst>
              <a:ext uri="{FF2B5EF4-FFF2-40B4-BE49-F238E27FC236}">
                <ns3:creationId id="{ADD64498-48DE-4557-9779-D47D693FC42A}"/>
              </a:ext>
            </a:extLst>
          </p:cNvPr>
          <p:cNvSpPr>
            <a:spLocks noGrp="1"/>
          </p:cNvSpPr>
          <p:nvPr/>
        </p:nvSpPr>
        <p:spPr>
          <a:xfrm>
            <a:off x="819150" y="5295900"/>
            <a:ext cx="6267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B6C8C7"/>
                </a:solidFill>
                <a:latin typeface="Aptos"/>
                <a:ea typeface="Aptos"/>
                <a:cs typeface="Aptos"/>
              </a:defRPr>
            </a:pPr>
            <a:r>
              <a:rPr sz="788" b="0">
                <a:solidFill>
                  <a:srgbClr val="B6C8C7"/>
                </a:solidFill>
                <a:latin typeface="Aptos"/>
                <a:ea typeface="Aptos"/>
                <a:cs typeface="Aptos"/>
              </a:rPr>
              <a:t>AI may be used as an ideation aid during concept work. Final application material should clearly label the role of AI and remain under human creative direction.</a:t>
            </a:r>
          </a:p>
        </p:txBody>
      </p:sp>
      <p:sp>
        <p:nvSpPr>
          <p:cNvPr id="26" name="">
            <a:extLst>
              <a:ext uri="{FF2B5EF4-FFF2-40B4-BE49-F238E27FC236}">
                <ns3:creationId id="{27C9ADBB-BC28-405E-A942-6273D6ED2157}"/>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Concept Development Deck | FFF Bayern High Concept 2.0</a:t>
            </a:r>
          </a:p>
        </p:txBody>
      </p:sp>
      <p:sp>
        <p:nvSpPr>
          <p:cNvPr id="27" name="">
            <a:extLst>
              <a:ext uri="{FF2B5EF4-FFF2-40B4-BE49-F238E27FC236}">
                <ns3:creationId id="{8905A8F0-3E0B-46CA-B171-FFEB32B15B21}"/>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09</a:t>
            </a:r>
          </a:p>
        </p:txBody>
      </p:sp>
    </p:spTree>
    <p:extLst>
      <p:ext uri="{BB962C8B-B14F-4D97-AF65-F5344CB8AC3E}">
        <ns4:creationId val="1851676993"/>
      </p:ext>
    </p:extLst>
  </p:cSld>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1" name=""/>
          <p:cNvPicPr>
            <a:picLocks noChangeAspect="1"/>
          </p:cNvPicPr>
          <p:nvPr/>
        </p:nvPicPr>
        <p:blipFill>
          <a:blip r:embed="Rc160cd62cb17444c"/>
          <a:srcRect l="149" t="0" r="149" b="0"/>
          <a:stretch>
            <a:fillRect l="0" t="0" r="0" b="0"/>
          </a:stretch>
        </p:blipFill>
        <p:spPr>
          <a:xfrm>
            <a:off x="0" y="0"/>
            <a:ext cx="12192000" cy="6858000"/>
          </a:xfrm>
          <a:prstGeom prst="rect">
            <a:avLst/>
          </a:prstGeom>
        </p:spPr>
      </p:pic>
      <p:sp>
        <p:nvSpPr>
          <p:cNvPr id="2" name="">
            <a:extLst>
              <a:ext uri="{FF2B5EF4-FFF2-40B4-BE49-F238E27FC236}">
                <ns3:creationId id="{E30B4F6B-D982-4966-9042-9FDB4BD2402A}"/>
              </a:ext>
            </a:extLst>
          </p:cNvPr>
          <p:cNvSpPr>
            <a:spLocks noGrp="1"/>
          </p:cNvSpPr>
          <p:nvPr/>
        </p:nvSpPr>
        <p:spPr>
          <a:xfrm>
            <a:off x="0" y="0"/>
            <a:ext cx="12192000" cy="6858000"/>
          </a:xfrm>
          <a:prstGeom prst="rect">
            <a:avLst/>
          </a:prstGeom>
          <a:solidFill>
            <a:srgbClr val="020A0D">
              <a:alpha val="84706"/>
            </a:srgbClr>
          </a:solidFill>
          <a:ln w="0">
            <a:solidFill>
              <a:srgbClr val="000000">
                <a:alpha val="0"/>
              </a:srgbClr>
            </a:solidFill>
            <a:prstDash val="solid"/>
          </a:ln>
        </p:spPr>
      </p:sp>
      <p:sp>
        <p:nvSpPr>
          <p:cNvPr id="3" name="">
            <a:extLst>
              <a:ext uri="{FF2B5EF4-FFF2-40B4-BE49-F238E27FC236}">
                <ns3:creationId id="{DC34217F-CCDE-49C1-85B9-AA0DD622F3F3}"/>
              </a:ext>
            </a:extLst>
          </p:cNvPr>
          <p:cNvSpPr>
            <a:spLocks noGrp="1"/>
          </p:cNvSpPr>
          <p:nvPr/>
        </p:nvSpPr>
        <p:spPr>
          <a:xfrm>
            <a:off x="0" y="0"/>
            <a:ext cx="12192000" cy="6858000"/>
          </a:xfrm>
          <a:prstGeom prst="rect">
            <a:avLst/>
          </a:prstGeom>
          <a:solidFill>
            <a:srgbClr val="1B3038">
              <a:alpha val="31373"/>
            </a:srgbClr>
          </a:solidFill>
          <a:ln w="0">
            <a:solidFill>
              <a:srgbClr val="000000">
                <a:alpha val="0"/>
              </a:srgbClr>
            </a:solidFill>
            <a:prstDash val="solid"/>
          </a:ln>
        </p:spPr>
      </p:sp>
      <p:sp>
        <p:nvSpPr>
          <p:cNvPr id="4" name="kicker-10-marker">
            <a:extLst>
              <a:ext uri="{FF2B5EF4-FFF2-40B4-BE49-F238E27FC236}">
                <ns3:creationId id="{7056579B-1C00-46D8-86EE-5CA5B69F738C}"/>
              </a:ext>
            </a:extLst>
          </p:cNvPr>
          <p:cNvSpPr>
            <a:spLocks noGrp="1"/>
          </p:cNvSpPr>
          <p:nvPr/>
        </p:nvSpPr>
        <p:spPr>
          <a:xfrm>
            <a:off x="552450" y="514350"/>
            <a:ext cx="76200" cy="76200"/>
          </a:xfrm>
          <a:prstGeom prst="rect">
            <a:avLst/>
          </a:prstGeom>
          <a:solidFill>
            <a:srgbClr val="E64232"/>
          </a:solidFill>
          <a:ln w="0">
            <a:solidFill>
              <a:srgbClr val="000000">
                <a:alpha val="0"/>
              </a:srgbClr>
            </a:solidFill>
            <a:prstDash val="solid"/>
          </a:ln>
        </p:spPr>
      </p:sp>
      <p:sp>
        <p:nvSpPr>
          <p:cNvPr id="5" name="kicker-10-label">
            <a:extLst>
              <a:ext uri="{FF2B5EF4-FFF2-40B4-BE49-F238E27FC236}">
                <ns3:creationId id="{5D14FC2B-D439-4D5E-83F4-EAB34837A1B4}"/>
              </a:ext>
            </a:extLst>
          </p:cNvPr>
          <p:cNvSpPr>
            <a:spLocks noGrp="1"/>
          </p:cNvSpPr>
          <p:nvPr/>
        </p:nvSpPr>
        <p:spPr>
          <a:xfrm>
            <a:off x="762000" y="457200"/>
            <a:ext cx="5715000" cy="190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645" b="1">
                <a:solidFill>
                  <a:srgbClr val="B6C8C7"/>
                </a:solidFill>
                <a:latin typeface="Aptos Mono"/>
                <a:ea typeface="Aptos Mono"/>
                <a:cs typeface="Aptos Mono"/>
              </a:defRPr>
            </a:pPr>
            <a:r>
              <a:rPr sz="645" b="1">
                <a:solidFill>
                  <a:srgbClr val="B6C8C7"/>
                </a:solidFill>
                <a:latin typeface="Aptos Mono"/>
                <a:ea typeface="Aptos Mono"/>
                <a:cs typeface="Aptos Mono"/>
              </a:rPr>
              <a:t>TEAM AND ASK</a:t>
            </a:r>
          </a:p>
        </p:txBody>
      </p:sp>
      <p:sp>
        <p:nvSpPr>
          <p:cNvPr id="6" name="">
            <a:extLst>
              <a:ext uri="{FF2B5EF4-FFF2-40B4-BE49-F238E27FC236}">
                <ns3:creationId id="{AA331331-94D7-44F0-A9A8-84A7166DA0B9}"/>
              </a:ext>
            </a:extLst>
          </p:cNvPr>
          <p:cNvSpPr>
            <a:spLocks noGrp="1"/>
          </p:cNvSpPr>
          <p:nvPr/>
        </p:nvSpPr>
        <p:spPr>
          <a:xfrm>
            <a:off x="552450" y="1028700"/>
            <a:ext cx="7810500" cy="8763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2400" b="1">
                <a:solidFill>
                  <a:srgbClr val="F5FAF8"/>
                </a:solidFill>
                <a:latin typeface="Aptos Display"/>
                <a:ea typeface="Aptos Display"/>
                <a:cs typeface="Aptos Display"/>
              </a:defRPr>
            </a:pPr>
            <a:r>
              <a:rPr sz="2400" b="1">
                <a:solidFill>
                  <a:srgbClr val="F5FAF8"/>
                </a:solidFill>
                <a:latin typeface="Aptos Display"/>
                <a:ea typeface="Aptos Display"/>
                <a:cs typeface="Aptos Display"/>
              </a:rPr>
              <a:t>ZweiBier Indie can turn a focused concept grant into a fundable production package.</a:t>
            </a:r>
          </a:p>
        </p:txBody>
      </p:sp>
      <p:sp>
        <p:nvSpPr>
          <p:cNvPr id="7" name="">
            <a:extLst>
              <a:ext uri="{FF2B5EF4-FFF2-40B4-BE49-F238E27FC236}">
                <ns3:creationId id="{81124F81-9721-4974-816D-E3BFAABC272F}"/>
              </a:ext>
            </a:extLst>
          </p:cNvPr>
          <p:cNvSpPr>
            <a:spLocks noGrp="1"/>
          </p:cNvSpPr>
          <p:nvPr/>
        </p:nvSpPr>
        <p:spPr>
          <a:xfrm>
            <a:off x="590550" y="2095500"/>
            <a:ext cx="75247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15" b="0">
                <a:solidFill>
                  <a:srgbClr val="F5FAF8"/>
                </a:solidFill>
                <a:latin typeface="Aptos"/>
                <a:ea typeface="Aptos"/>
                <a:cs typeface="Aptos"/>
              </a:defRPr>
            </a:pPr>
            <a:r>
              <a:rPr sz="915" b="0">
                <a:solidFill>
                  <a:srgbClr val="F5FAF8"/>
                </a:solidFill>
                <a:latin typeface="Aptos"/>
                <a:ea typeface="Aptos"/>
                <a:cs typeface="Aptos"/>
              </a:rPr>
              <a:t>Applicants: Aleksandr Varko - ZweiBier Indie, Munich. The production team is intentionally small and focused: Aleksandr Varko leads programming, multiplayer systems and producing. PMB Interactive contributes art direction, visual concepts and level design — backed by 20+ years of game development experience, 50+ published titles and awards including the Apple Design Award and the Deutscher Computerspielpreis.</a:t>
            </a:r>
          </a:p>
        </p:txBody>
      </p:sp>
      <p:sp>
        <p:nvSpPr>
          <p:cNvPr id="8" name="">
            <a:extLst>
              <a:ext uri="{FF2B5EF4-FFF2-40B4-BE49-F238E27FC236}">
                <ns3:creationId id="{805ED1FF-09B3-4350-AA5A-E170A325D4E6}"/>
              </a:ext>
            </a:extLst>
          </p:cNvPr>
          <p:cNvSpPr>
            <a:spLocks noGrp="1"/>
          </p:cNvSpPr>
          <p:nvPr/>
        </p:nvSpPr>
        <p:spPr>
          <a:xfrm>
            <a:off x="666750" y="3219450"/>
            <a:ext cx="3429000" cy="876300"/>
          </a:xfrm>
          <a:prstGeom prst="rect">
            <a:avLst/>
          </a:prstGeom>
          <a:solidFill>
            <a:srgbClr val="0B2027">
              <a:alpha val="80000"/>
            </a:srgbClr>
          </a:solidFill>
          <a:ln w="9525">
            <a:solidFill>
              <a:srgbClr val="2E4C55"/>
            </a:solidFill>
            <a:prstDash val="solid"/>
          </a:ln>
        </p:spPr>
      </p:sp>
      <p:sp>
        <p:nvSpPr>
          <p:cNvPr id="9" name="">
            <a:extLst>
              <a:ext uri="{FF2B5EF4-FFF2-40B4-BE49-F238E27FC236}">
                <ns3:creationId id="{0BCADA60-4C3C-46A8-B873-1DD949E65820}"/>
              </a:ext>
            </a:extLst>
          </p:cNvPr>
          <p:cNvSpPr>
            <a:spLocks noGrp="1"/>
          </p:cNvSpPr>
          <p:nvPr/>
        </p:nvSpPr>
        <p:spPr>
          <a:xfrm>
            <a:off x="666750" y="3219450"/>
            <a:ext cx="3429000" cy="47625"/>
          </a:xfrm>
          <a:prstGeom prst="rect">
            <a:avLst/>
          </a:prstGeom>
          <a:solidFill>
            <a:srgbClr val="8BD3E6"/>
          </a:solidFill>
          <a:ln w="0">
            <a:solidFill>
              <a:srgbClr val="000000">
                <a:alpha val="0"/>
              </a:srgbClr>
            </a:solidFill>
            <a:prstDash val="solid"/>
          </a:ln>
        </p:spPr>
      </p:sp>
      <p:sp>
        <p:nvSpPr>
          <p:cNvPr id="10" name="">
            <a:extLst>
              <a:ext uri="{FF2B5EF4-FFF2-40B4-BE49-F238E27FC236}">
                <ns3:creationId id="{526B7539-4E2E-4089-97D4-B71EA7768EE6}"/>
              </a:ext>
            </a:extLst>
          </p:cNvPr>
          <p:cNvSpPr>
            <a:spLocks noGrp="1"/>
          </p:cNvSpPr>
          <p:nvPr/>
        </p:nvSpPr>
        <p:spPr>
          <a:xfrm>
            <a:off x="819150" y="3390900"/>
            <a:ext cx="3124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Aleksandr Varko</a:t>
            </a:r>
          </a:p>
        </p:txBody>
      </p:sp>
      <p:sp>
        <p:nvSpPr>
          <p:cNvPr id="11" name="">
            <a:extLst>
              <a:ext uri="{FF2B5EF4-FFF2-40B4-BE49-F238E27FC236}">
                <ns3:creationId id="{0B017250-4CA3-46A9-8A2F-8DAF2D352E0D}"/>
              </a:ext>
            </a:extLst>
          </p:cNvPr>
          <p:cNvSpPr>
            <a:spLocks noGrp="1"/>
          </p:cNvSpPr>
          <p:nvPr/>
        </p:nvSpPr>
        <p:spPr>
          <a:xfrm>
            <a:off x="819150" y="3695700"/>
            <a:ext cx="3124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5" b="0">
                <a:solidFill>
                  <a:srgbClr val="B6C8C7"/>
                </a:solidFill>
                <a:latin typeface="Aptos"/>
                <a:ea typeface="Aptos"/>
                <a:cs typeface="Aptos"/>
              </a:defRPr>
            </a:pPr>
            <a:r>
              <a:rPr sz="795" b="0">
                <a:solidFill>
                  <a:srgbClr val="B6C8C7"/>
                </a:solidFill>
                <a:latin typeface="Aptos"/>
                <a:ea typeface="Aptos"/>
                <a:cs typeface="Aptos"/>
              </a:rPr>
              <a:t>Programming, multiplayer systems and producing</a:t>
            </a:r>
          </a:p>
        </p:txBody>
      </p:sp>
      <p:sp>
        <p:nvSpPr>
          <p:cNvPr id="12" name="">
            <a:extLst>
              <a:ext uri="{FF2B5EF4-FFF2-40B4-BE49-F238E27FC236}">
                <ns3:creationId id="{5F917397-E02C-41A7-ABFC-D9D88D71B9D4}"/>
              </a:ext>
            </a:extLst>
          </p:cNvPr>
          <p:cNvSpPr>
            <a:spLocks noGrp="1"/>
          </p:cNvSpPr>
          <p:nvPr/>
        </p:nvSpPr>
        <p:spPr>
          <a:xfrm>
            <a:off x="4400550" y="3219450"/>
            <a:ext cx="3429000" cy="876300"/>
          </a:xfrm>
          <a:prstGeom prst="rect">
            <a:avLst/>
          </a:prstGeom>
          <a:solidFill>
            <a:srgbClr val="0B2027">
              <a:alpha val="80000"/>
            </a:srgbClr>
          </a:solidFill>
          <a:ln w="9525">
            <a:solidFill>
              <a:srgbClr val="2E4C55"/>
            </a:solidFill>
            <a:prstDash val="solid"/>
          </a:ln>
        </p:spPr>
      </p:sp>
      <p:sp>
        <p:nvSpPr>
          <p:cNvPr id="13" name="">
            <a:extLst>
              <a:ext uri="{FF2B5EF4-FFF2-40B4-BE49-F238E27FC236}">
                <ns3:creationId id="{DC6C80D9-9161-470D-BD24-EB752479D7DD}"/>
              </a:ext>
            </a:extLst>
          </p:cNvPr>
          <p:cNvSpPr>
            <a:spLocks noGrp="1"/>
          </p:cNvSpPr>
          <p:nvPr/>
        </p:nvSpPr>
        <p:spPr>
          <a:xfrm>
            <a:off x="4400550" y="3219450"/>
            <a:ext cx="3429000" cy="47625"/>
          </a:xfrm>
          <a:prstGeom prst="rect">
            <a:avLst/>
          </a:prstGeom>
          <a:solidFill>
            <a:srgbClr val="8ED17A"/>
          </a:solidFill>
          <a:ln w="0">
            <a:solidFill>
              <a:srgbClr val="000000">
                <a:alpha val="0"/>
              </a:srgbClr>
            </a:solidFill>
            <a:prstDash val="solid"/>
          </a:ln>
        </p:spPr>
      </p:sp>
      <p:sp>
        <p:nvSpPr>
          <p:cNvPr id="14" name="">
            <a:extLst>
              <a:ext uri="{FF2B5EF4-FFF2-40B4-BE49-F238E27FC236}">
                <ns3:creationId id="{6C71903C-F541-40BB-B7D8-36F2D46F4B15}"/>
              </a:ext>
            </a:extLst>
          </p:cNvPr>
          <p:cNvSpPr>
            <a:spLocks noGrp="1"/>
          </p:cNvSpPr>
          <p:nvPr/>
        </p:nvSpPr>
        <p:spPr>
          <a:xfrm>
            <a:off x="4552950" y="3390900"/>
            <a:ext cx="3124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5FAF8"/>
                </a:solidFill>
                <a:latin typeface="Aptos"/>
                <a:ea typeface="Aptos"/>
                <a:cs typeface="Aptos"/>
              </a:defRPr>
            </a:pPr>
            <a:r>
              <a:rPr sz="1050" b="1">
                <a:solidFill>
                  <a:srgbClr val="F5FAF8"/>
                </a:solidFill>
                <a:latin typeface="Aptos"/>
                <a:ea typeface="Aptos"/>
                <a:cs typeface="Aptos"/>
              </a:rPr>
              <a:t>Matthias Baudrexl</a:t>
            </a:r>
          </a:p>
        </p:txBody>
      </p:sp>
      <p:sp>
        <p:nvSpPr>
          <p:cNvPr id="15" name="">
            <a:extLst>
              <a:ext uri="{FF2B5EF4-FFF2-40B4-BE49-F238E27FC236}">
                <ns3:creationId id="{B5A28683-982A-438D-B931-A10379EE4BDC}"/>
              </a:ext>
            </a:extLst>
          </p:cNvPr>
          <p:cNvSpPr>
            <a:spLocks noGrp="1"/>
          </p:cNvSpPr>
          <p:nvPr/>
        </p:nvSpPr>
        <p:spPr>
          <a:xfrm>
            <a:off x="4552950" y="3695700"/>
            <a:ext cx="3124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5" b="0">
                <a:solidFill>
                  <a:srgbClr val="B6C8C7"/>
                </a:solidFill>
                <a:latin typeface="Aptos"/>
                <a:ea typeface="Aptos"/>
                <a:cs typeface="Aptos"/>
              </a:defRPr>
            </a:pPr>
            <a:r>
              <a:rPr sz="940" b="0">
                <a:solidFill>
                  <a:srgbClr val="B6C8C7"/>
                </a:solidFill>
                <a:latin typeface="Aptos"/>
                <a:ea typeface="Aptos"/>
                <a:cs typeface="Aptos"/>
              </a:rPr>
              <a:t>Founder PMB Interactive UG; PMB Interactive contributes art direction, visual concepts and level design</a:t>
            </a:r>
          </a:p>
        </p:txBody>
      </p:sp>
      <p:sp>
        <p:nvSpPr>
          <p:cNvPr id="16" name="">
            <a:extLst>
              <a:ext uri="{FF2B5EF4-FFF2-40B4-BE49-F238E27FC236}">
                <ns3:creationId id="{85F1736F-D1B1-4368-8B43-87FE5BA4067D}"/>
              </a:ext>
            </a:extLst>
          </p:cNvPr>
          <p:cNvSpPr>
            <a:spLocks noGrp="1"/>
          </p:cNvSpPr>
          <p:nvPr/>
        </p:nvSpPr>
        <p:spPr>
          <a:xfrm>
            <a:off x="8477250" y="1562100"/>
            <a:ext cx="1524000" cy="9525"/>
          </a:xfrm>
          <a:prstGeom prst="rect">
            <a:avLst/>
          </a:prstGeom>
          <a:solidFill>
            <a:srgbClr val="2A4550"/>
          </a:solidFill>
          <a:ln w="0">
            <a:solidFill>
              <a:srgbClr val="000000">
                <a:alpha val="0"/>
              </a:srgbClr>
            </a:solidFill>
            <a:prstDash val="solid"/>
          </a:ln>
        </p:spPr>
      </p:sp>
      <p:sp>
        <p:nvSpPr>
          <p:cNvPr id="17" name="">
            <a:extLst>
              <a:ext uri="{FF2B5EF4-FFF2-40B4-BE49-F238E27FC236}">
                <ns3:creationId id="{B132260B-5DE7-4EA3-AFFC-2B79AF90B54D}"/>
              </a:ext>
            </a:extLst>
          </p:cNvPr>
          <p:cNvSpPr>
            <a:spLocks noGrp="1"/>
          </p:cNvSpPr>
          <p:nvPr/>
        </p:nvSpPr>
        <p:spPr>
          <a:xfrm>
            <a:off x="8477250" y="1714500"/>
            <a:ext cx="152400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ED17A"/>
                </a:solidFill>
                <a:latin typeface="Aptos Display"/>
                <a:ea typeface="Aptos Display"/>
                <a:cs typeface="Aptos Display"/>
              </a:defRPr>
            </a:pPr>
            <a:r>
              <a:rPr sz="1725" b="1">
                <a:solidFill>
                  <a:srgbClr val="8ED17A"/>
                </a:solidFill>
                <a:latin typeface="Aptos Display"/>
                <a:ea typeface="Aptos Display"/>
                <a:cs typeface="Aptos Display"/>
              </a:rPr>
              <a:t>Dreadway</a:t>
            </a:r>
          </a:p>
        </p:txBody>
      </p:sp>
      <p:sp>
        <p:nvSpPr>
          <p:cNvPr id="18" name="">
            <a:extLst>
              <a:ext uri="{FF2B5EF4-FFF2-40B4-BE49-F238E27FC236}">
                <ns3:creationId id="{8F6211B7-3C8C-469E-808E-2E7AADB7DDC9}"/>
              </a:ext>
            </a:extLst>
          </p:cNvPr>
          <p:cNvSpPr>
            <a:spLocks noGrp="1"/>
          </p:cNvSpPr>
          <p:nvPr/>
        </p:nvSpPr>
        <p:spPr>
          <a:xfrm>
            <a:off x="8477250" y="2057400"/>
            <a:ext cx="1524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TRACK RECORD</a:t>
            </a:r>
          </a:p>
        </p:txBody>
      </p:sp>
      <p:sp>
        <p:nvSpPr>
          <p:cNvPr id="19" name="">
            <a:extLst>
              <a:ext uri="{FF2B5EF4-FFF2-40B4-BE49-F238E27FC236}">
                <ns3:creationId id="{8F13668D-21DF-4234-9909-CA07B50AF034}"/>
              </a:ext>
            </a:extLst>
          </p:cNvPr>
          <p:cNvSpPr>
            <a:spLocks noGrp="1"/>
          </p:cNvSpPr>
          <p:nvPr/>
        </p:nvSpPr>
        <p:spPr>
          <a:xfrm>
            <a:off x="8477250" y="2238375"/>
            <a:ext cx="152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Shipped commercial Steam reference</a:t>
            </a:r>
          </a:p>
        </p:txBody>
      </p:sp>
      <p:sp>
        <p:nvSpPr>
          <p:cNvPr id="20" name="">
            <a:extLst>
              <a:ext uri="{FF2B5EF4-FFF2-40B4-BE49-F238E27FC236}">
                <ns3:creationId id="{48217BC5-17D3-46A5-A2A0-9175D56F61DA}"/>
              </a:ext>
            </a:extLst>
          </p:cNvPr>
          <p:cNvSpPr>
            <a:spLocks noGrp="1"/>
          </p:cNvSpPr>
          <p:nvPr/>
        </p:nvSpPr>
        <p:spPr>
          <a:xfrm>
            <a:off x="10191750" y="1562100"/>
            <a:ext cx="1428750" cy="9525"/>
          </a:xfrm>
          <a:prstGeom prst="rect">
            <a:avLst/>
          </a:prstGeom>
          <a:solidFill>
            <a:srgbClr val="2A4550"/>
          </a:solidFill>
          <a:ln w="0">
            <a:solidFill>
              <a:srgbClr val="000000">
                <a:alpha val="0"/>
              </a:srgbClr>
            </a:solidFill>
            <a:prstDash val="solid"/>
          </a:ln>
        </p:spPr>
      </p:sp>
      <p:sp>
        <p:nvSpPr>
          <p:cNvPr id="21" name="">
            <a:extLst>
              <a:ext uri="{FF2B5EF4-FFF2-40B4-BE49-F238E27FC236}">
                <ns3:creationId id="{7484F7BC-3E86-4DE8-9150-976D4C11B2F5}"/>
              </a:ext>
            </a:extLst>
          </p:cNvPr>
          <p:cNvSpPr>
            <a:spLocks noGrp="1"/>
          </p:cNvSpPr>
          <p:nvPr/>
        </p:nvSpPr>
        <p:spPr>
          <a:xfrm>
            <a:off x="10191750" y="1714500"/>
            <a:ext cx="142875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BD3E6"/>
                </a:solidFill>
                <a:latin typeface="Aptos Display"/>
                <a:ea typeface="Aptos Display"/>
                <a:cs typeface="Aptos Display"/>
              </a:defRPr>
            </a:pPr>
            <a:r>
              <a:rPr sz="1725" b="1">
                <a:solidFill>
                  <a:srgbClr val="8BD3E6"/>
                </a:solidFill>
                <a:latin typeface="Aptos Display"/>
                <a:ea typeface="Aptos Display"/>
                <a:cs typeface="Aptos Display"/>
              </a:rPr>
              <a:t>Munich</a:t>
            </a:r>
          </a:p>
        </p:txBody>
      </p:sp>
      <p:sp>
        <p:nvSpPr>
          <p:cNvPr id="22" name="">
            <a:extLst>
              <a:ext uri="{FF2B5EF4-FFF2-40B4-BE49-F238E27FC236}">
                <ns3:creationId id="{38959317-278B-4253-B530-70D83774A5F1}"/>
              </a:ext>
            </a:extLst>
          </p:cNvPr>
          <p:cNvSpPr>
            <a:spLocks noGrp="1"/>
          </p:cNvSpPr>
          <p:nvPr/>
        </p:nvSpPr>
        <p:spPr>
          <a:xfrm>
            <a:off x="10191750" y="205740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LOCATION</a:t>
            </a:r>
          </a:p>
        </p:txBody>
      </p:sp>
      <p:sp>
        <p:nvSpPr>
          <p:cNvPr id="23" name="">
            <a:extLst>
              <a:ext uri="{FF2B5EF4-FFF2-40B4-BE49-F238E27FC236}">
                <ns3:creationId id="{34494548-4FEC-403B-BD4B-E65A0B6F4DB0}"/>
              </a:ext>
            </a:extLst>
          </p:cNvPr>
          <p:cNvSpPr>
            <a:spLocks noGrp="1"/>
          </p:cNvSpPr>
          <p:nvPr/>
        </p:nvSpPr>
        <p:spPr>
          <a:xfrm>
            <a:off x="10191750" y="2238375"/>
            <a:ext cx="1428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Home-based Bavarian development</a:t>
            </a:r>
          </a:p>
        </p:txBody>
      </p:sp>
      <p:sp>
        <p:nvSpPr>
          <p:cNvPr id="24" name="">
            <a:extLst>
              <a:ext uri="{FF2B5EF4-FFF2-40B4-BE49-F238E27FC236}">
                <ns3:creationId id="{D838797F-2931-4516-930C-44B4ED535EDB}"/>
              </a:ext>
            </a:extLst>
          </p:cNvPr>
          <p:cNvSpPr>
            <a:spLocks noGrp="1"/>
          </p:cNvSpPr>
          <p:nvPr/>
        </p:nvSpPr>
        <p:spPr>
          <a:xfrm>
            <a:off x="8477250" y="3067050"/>
            <a:ext cx="1524000" cy="9525"/>
          </a:xfrm>
          <a:prstGeom prst="rect">
            <a:avLst/>
          </a:prstGeom>
          <a:solidFill>
            <a:srgbClr val="2A4550"/>
          </a:solidFill>
          <a:ln w="0">
            <a:solidFill>
              <a:srgbClr val="000000">
                <a:alpha val="0"/>
              </a:srgbClr>
            </a:solidFill>
            <a:prstDash val="solid"/>
          </a:ln>
        </p:spPr>
      </p:sp>
      <p:sp>
        <p:nvSpPr>
          <p:cNvPr id="25" name="">
            <a:extLst>
              <a:ext uri="{FF2B5EF4-FFF2-40B4-BE49-F238E27FC236}">
                <ns3:creationId id="{9D37033D-19DE-4D49-AE9B-1A68BB95DA81}"/>
              </a:ext>
            </a:extLst>
          </p:cNvPr>
          <p:cNvSpPr>
            <a:spLocks noGrp="1"/>
          </p:cNvSpPr>
          <p:nvPr/>
        </p:nvSpPr>
        <p:spPr>
          <a:xfrm>
            <a:off x="8477250" y="3219450"/>
            <a:ext cx="1524000" cy="2952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FFB55A"/>
                </a:solidFill>
                <a:latin typeface="Aptos Display"/>
                <a:ea typeface="Aptos Display"/>
                <a:cs typeface="Aptos Display"/>
              </a:defRPr>
            </a:pPr>
            <a:r>
              <a:rPr sz="1725" b="1">
                <a:solidFill>
                  <a:srgbClr val="FFB55A"/>
                </a:solidFill>
                <a:latin typeface="Aptos Display"/>
                <a:ea typeface="Aptos Display"/>
                <a:cs typeface="Aptos Display"/>
              </a:rPr>
              <a:t>PC Steam</a:t>
            </a:r>
          </a:p>
        </p:txBody>
      </p:sp>
      <p:sp>
        <p:nvSpPr>
          <p:cNvPr id="26" name="">
            <a:extLst>
              <a:ext uri="{FF2B5EF4-FFF2-40B4-BE49-F238E27FC236}">
                <ns3:creationId id="{B98EF160-D0A4-4CA3-85D0-EDA5F50DCFB6}"/>
              </a:ext>
            </a:extLst>
          </p:cNvPr>
          <p:cNvSpPr>
            <a:spLocks noGrp="1"/>
          </p:cNvSpPr>
          <p:nvPr/>
        </p:nvSpPr>
        <p:spPr>
          <a:xfrm>
            <a:off x="8477250" y="3562350"/>
            <a:ext cx="1524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TARGET</a:t>
            </a:r>
          </a:p>
        </p:txBody>
      </p:sp>
      <p:sp>
        <p:nvSpPr>
          <p:cNvPr id="27" name="">
            <a:extLst>
              <a:ext uri="{FF2B5EF4-FFF2-40B4-BE49-F238E27FC236}">
                <ns3:creationId id="{FD318F65-29E4-4584-BE82-F8DEE5EB2FCA}"/>
              </a:ext>
            </a:extLst>
          </p:cNvPr>
          <p:cNvSpPr>
            <a:spLocks noGrp="1"/>
          </p:cNvSpPr>
          <p:nvPr/>
        </p:nvSpPr>
        <p:spPr>
          <a:xfrm>
            <a:off x="8477250" y="3743325"/>
            <a:ext cx="152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B6C8C7"/>
                </a:solidFill>
                <a:latin typeface="Aptos"/>
                <a:ea typeface="Aptos"/>
                <a:cs typeface="Aptos"/>
              </a:defRPr>
            </a:pPr>
            <a:r>
              <a:rPr sz="660" b="0">
                <a:solidFill>
                  <a:srgbClr val="B6C8C7"/>
                </a:solidFill>
                <a:latin typeface="Aptos"/>
                <a:ea typeface="Aptos"/>
                <a:cs typeface="Aptos"/>
              </a:rPr>
              <a:t>Premium multiplayer release path</a:t>
            </a:r>
          </a:p>
        </p:txBody>
      </p:sp>
      <p:sp>
        <p:nvSpPr>
          <p:cNvPr id="28" name="">
            <a:extLst>
              <a:ext uri="{FF2B5EF4-FFF2-40B4-BE49-F238E27FC236}">
                <ns3:creationId id="{A31A8B11-486D-4ADA-BA5D-A69C0134B6B9}"/>
              </a:ext>
            </a:extLst>
          </p:cNvPr>
          <p:cNvSpPr>
            <a:spLocks noGrp="1"/>
          </p:cNvSpPr>
          <p:nvPr/>
        </p:nvSpPr>
        <p:spPr>
          <a:xfrm>
            <a:off x="10172700" y="3067050"/>
            <a:ext cx="1447800" cy="9525"/>
          </a:xfrm>
          <a:prstGeom prst="rect">
            <a:avLst/>
          </a:prstGeom>
          <a:solidFill>
            <a:srgbClr val="2A4550"/>
          </a:solidFill>
          <a:ln w="0">
            <a:solidFill>
              <a:srgbClr val="000000">
                <a:alpha val="0"/>
              </a:srgbClr>
            </a:solidFill>
            <a:prstDash val="solid"/>
          </a:ln>
        </p:spPr>
      </p:sp>
      <p:sp>
        <p:nvSpPr>
          <p:cNvPr id="29" name="">
            <a:extLst>
              <a:ext uri="{FF2B5EF4-FFF2-40B4-BE49-F238E27FC236}">
                <ns3:creationId id="{2627DECA-4691-4A3E-84B8-ED9EC5F90AFF}"/>
              </a:ext>
            </a:extLst>
          </p:cNvPr>
          <p:cNvSpPr>
            <a:spLocks noGrp="1"/>
          </p:cNvSpPr>
          <p:nvPr/>
        </p:nvSpPr>
        <p:spPr>
          <a:xfrm>
            <a:off x="10172700" y="3219450"/>
            <a:ext cx="1447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0" b="1">
                <a:solidFill>
                  <a:srgbClr val="E64232"/>
                </a:solidFill>
                <a:latin typeface="Aptos Display"/>
                <a:ea typeface="Aptos Display"/>
                <a:cs typeface="Aptos Display"/>
              </a:defRPr>
            </a:pPr>
            <a:r>
              <a:rPr sz="1230" b="1">
                <a:solidFill>
                  <a:srgbClr val="E64232"/>
                </a:solidFill>
                <a:latin typeface="Aptos Display"/>
                <a:ea typeface="Aptos Display"/>
                <a:cs typeface="Aptos Display"/>
              </a:rPr>
              <a:t>High Concept 2.0</a:t>
            </a:r>
          </a:p>
        </p:txBody>
      </p:sp>
      <p:sp>
        <p:nvSpPr>
          <p:cNvPr id="30" name="">
            <a:extLst>
              <a:ext uri="{FF2B5EF4-FFF2-40B4-BE49-F238E27FC236}">
                <ns3:creationId id="{0AD3F07B-8F0E-4F75-936E-0F7F530A47E6}"/>
              </a:ext>
            </a:extLst>
          </p:cNvPr>
          <p:cNvSpPr>
            <a:spLocks noGrp="1"/>
          </p:cNvSpPr>
          <p:nvPr/>
        </p:nvSpPr>
        <p:spPr>
          <a:xfrm>
            <a:off x="10172700" y="3562350"/>
            <a:ext cx="1447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5FAF8"/>
                </a:solidFill>
                <a:latin typeface="Aptos Mono"/>
                <a:ea typeface="Aptos Mono"/>
                <a:cs typeface="Aptos Mono"/>
              </a:defRPr>
            </a:pPr>
            <a:r>
              <a:rPr sz="563" b="1">
                <a:solidFill>
                  <a:srgbClr val="F5FAF8"/>
                </a:solidFill>
                <a:latin typeface="Aptos Mono"/>
                <a:ea typeface="Aptos Mono"/>
                <a:cs typeface="Aptos Mono"/>
              </a:rPr>
              <a:t>NEXT GATE</a:t>
            </a:r>
          </a:p>
        </p:txBody>
      </p:sp>
      <p:sp>
        <p:nvSpPr>
          <p:cNvPr id="31" name="">
            <a:extLst>
              <a:ext uri="{FF2B5EF4-FFF2-40B4-BE49-F238E27FC236}">
                <ns3:creationId id="{9DBF1E60-8B1C-462B-84F3-7068E388C1B6}"/>
              </a:ext>
            </a:extLst>
          </p:cNvPr>
          <p:cNvSpPr>
            <a:spLocks noGrp="1"/>
          </p:cNvSpPr>
          <p:nvPr/>
        </p:nvSpPr>
        <p:spPr>
          <a:xfrm>
            <a:off x="10172700" y="3752850"/>
            <a:ext cx="14478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0">
                <a:solidFill>
                  <a:srgbClr val="B6C8C7"/>
                </a:solidFill>
                <a:latin typeface="Aptos"/>
                <a:ea typeface="Aptos"/>
                <a:cs typeface="Aptos"/>
              </a:defRPr>
            </a:pPr>
            <a:r>
              <a:rPr sz="615" b="0">
                <a:solidFill>
                  <a:srgbClr val="B6C8C7"/>
                </a:solidFill>
                <a:latin typeface="Aptos"/>
                <a:ea typeface="Aptos"/>
                <a:cs typeface="Aptos"/>
              </a:rPr>
              <a:t>Design, market, technical scope and art package</a:t>
            </a:r>
          </a:p>
        </p:txBody>
      </p:sp>
      <p:sp>
        <p:nvSpPr>
          <p:cNvPr id="32" name="">
            <a:extLst>
              <a:ext uri="{FF2B5EF4-FFF2-40B4-BE49-F238E27FC236}">
                <ns3:creationId id="{0DE90965-6513-41F2-BEFD-C2469DA74AFD}"/>
              </a:ext>
            </a:extLst>
          </p:cNvPr>
          <p:cNvSpPr>
            <a:spLocks noGrp="1"/>
          </p:cNvSpPr>
          <p:nvPr/>
        </p:nvSpPr>
        <p:spPr>
          <a:xfrm>
            <a:off x="666750" y="4572000"/>
            <a:ext cx="7162800" cy="438150"/>
          </a:xfrm>
          <a:prstGeom prst="rect">
            <a:avLst/>
          </a:prstGeom>
          <a:solidFill>
            <a:srgbClr val="102A32">
              <a:alpha val="80000"/>
            </a:srgbClr>
          </a:solidFill>
          <a:ln w="9525">
            <a:solidFill>
              <a:srgbClr val="FFB55A"/>
            </a:solidFill>
            <a:prstDash val="solid"/>
          </a:ln>
        </p:spPr>
      </p:sp>
      <p:sp>
        <p:nvSpPr>
          <p:cNvPr id="33" name="">
            <a:extLst>
              <a:ext uri="{FF2B5EF4-FFF2-40B4-BE49-F238E27FC236}">
                <ns3:creationId id="{9E277244-8A64-454F-A3F5-9B9DDAA4E8B5}"/>
              </a:ext>
            </a:extLst>
          </p:cNvPr>
          <p:cNvSpPr>
            <a:spLocks noGrp="1"/>
          </p:cNvSpPr>
          <p:nvPr/>
        </p:nvSpPr>
        <p:spPr>
          <a:xfrm>
            <a:off x="876300" y="4705350"/>
            <a:ext cx="8763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1">
                <a:solidFill>
                  <a:srgbClr val="FFB55A"/>
                </a:solidFill>
                <a:latin typeface="Aptos"/>
                <a:ea typeface="Aptos"/>
                <a:cs typeface="Aptos"/>
              </a:defRPr>
            </a:pPr>
            <a:r>
              <a:rPr sz="788" b="1">
                <a:solidFill>
                  <a:srgbClr val="FFB55A"/>
                </a:solidFill>
                <a:latin typeface="Aptos"/>
                <a:ea typeface="Aptos"/>
                <a:cs typeface="Aptos"/>
              </a:rPr>
              <a:t>Request</a:t>
            </a:r>
          </a:p>
        </p:txBody>
      </p:sp>
      <p:sp>
        <p:nvSpPr>
          <p:cNvPr id="34" name="">
            <a:extLst>
              <a:ext uri="{FF2B5EF4-FFF2-40B4-BE49-F238E27FC236}">
                <ns3:creationId id="{21C8EDDA-BD0D-4E4B-A3D1-4444974BF472}"/>
              </a:ext>
            </a:extLst>
          </p:cNvPr>
          <p:cNvSpPr>
            <a:spLocks noGrp="1"/>
          </p:cNvSpPr>
          <p:nvPr/>
        </p:nvSpPr>
        <p:spPr>
          <a:xfrm>
            <a:off x="1752600" y="46863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F5FAF8"/>
                </a:solidFill>
                <a:latin typeface="Aptos"/>
                <a:ea typeface="Aptos"/>
                <a:cs typeface="Aptos"/>
              </a:defRPr>
            </a:pPr>
            <a:r>
              <a:rPr sz="1088" b="1">
                <a:solidFill>
                  <a:srgbClr val="F5FAF8"/>
                </a:solidFill>
                <a:latin typeface="Aptos"/>
                <a:ea typeface="Aptos"/>
                <a:cs typeface="Aptos"/>
              </a:rPr>
              <a:t>20 000 euro</a:t>
            </a:r>
          </a:p>
        </p:txBody>
      </p:sp>
      <p:sp>
        <p:nvSpPr>
          <p:cNvPr id="35" name="">
            <a:extLst>
              <a:ext uri="{FF2B5EF4-FFF2-40B4-BE49-F238E27FC236}">
                <ns3:creationId id="{9D9D8590-B9B1-437A-80C5-F157ECFD2571}"/>
              </a:ext>
            </a:extLst>
          </p:cNvPr>
          <p:cNvSpPr>
            <a:spLocks noGrp="1"/>
          </p:cNvSpPr>
          <p:nvPr/>
        </p:nvSpPr>
        <p:spPr>
          <a:xfrm>
            <a:off x="704850" y="5562600"/>
            <a:ext cx="12573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5FAF8"/>
                </a:solidFill>
                <a:latin typeface="Aptos Display"/>
                <a:ea typeface="Aptos Display"/>
                <a:cs typeface="Aptos Display"/>
              </a:defRPr>
            </a:pPr>
            <a:r>
              <a:rPr sz="2100" b="1">
                <a:solidFill>
                  <a:srgbClr val="F5FAF8"/>
                </a:solidFill>
                <a:latin typeface="Aptos Display"/>
                <a:ea typeface="Aptos Display"/>
                <a:cs typeface="Aptos Display"/>
              </a:rPr>
              <a:t>BERG</a:t>
            </a:r>
          </a:p>
        </p:txBody>
      </p:sp>
      <p:sp>
        <p:nvSpPr>
          <p:cNvPr id="36" name="">
            <a:extLst>
              <a:ext uri="{FF2B5EF4-FFF2-40B4-BE49-F238E27FC236}">
                <ns3:creationId id="{CC8B2F5D-8C86-457E-B78B-B18D115C26CD}"/>
              </a:ext>
            </a:extLst>
          </p:cNvPr>
          <p:cNvSpPr>
            <a:spLocks noGrp="1"/>
          </p:cNvSpPr>
          <p:nvPr/>
        </p:nvSpPr>
        <p:spPr>
          <a:xfrm>
            <a:off x="2000250" y="5638800"/>
            <a:ext cx="514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5FAF8"/>
                </a:solidFill>
                <a:latin typeface="Aptos"/>
                <a:ea typeface="Aptos"/>
                <a:cs typeface="Aptos"/>
              </a:defRPr>
            </a:pPr>
            <a:r>
              <a:rPr sz="975" b="0">
                <a:solidFill>
                  <a:srgbClr val="F5FAF8"/>
                </a:solidFill>
                <a:latin typeface="Aptos"/>
                <a:ea typeface="Aptos"/>
                <a:cs typeface="Aptos"/>
              </a:rPr>
              <a:t>A realistic social climbing adventure set on the Zugspitze.</a:t>
            </a:r>
          </a:p>
        </p:txBody>
      </p:sp>
      <p:sp>
        <p:nvSpPr>
          <p:cNvPr id="37" name="">
            <a:extLst>
              <a:ext uri="{FF2B5EF4-FFF2-40B4-BE49-F238E27FC236}">
                <ns3:creationId id="{141C60EC-3883-4FCD-8FEA-63AFF8D37137}"/>
              </a:ext>
            </a:extLst>
          </p:cNvPr>
          <p:cNvSpPr>
            <a:spLocks noGrp="1"/>
          </p:cNvSpPr>
          <p:nvPr/>
        </p:nvSpPr>
        <p:spPr>
          <a:xfrm>
            <a:off x="552450" y="6534150"/>
            <a:ext cx="7334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0" b="0">
                <a:solidFill>
                  <a:srgbClr val="78929A"/>
                </a:solidFill>
                <a:latin typeface="Aptos"/>
                <a:ea typeface="Aptos"/>
                <a:cs typeface="Aptos"/>
              </a:defRPr>
            </a:pPr>
            <a:r>
              <a:rPr sz="540" b="0">
                <a:solidFill>
                  <a:srgbClr val="78929A"/>
                </a:solidFill>
                <a:latin typeface="Aptos"/>
                <a:ea typeface="Aptos"/>
                <a:cs typeface="Aptos"/>
              </a:rPr>
              <a:t>Berg | Aleksandr Varko / ZweiBier Indie | FFF Bayern</a:t>
            </a:r>
          </a:p>
        </p:txBody>
      </p:sp>
      <p:sp>
        <p:nvSpPr>
          <p:cNvPr id="38" name="">
            <a:extLst>
              <a:ext uri="{FF2B5EF4-FFF2-40B4-BE49-F238E27FC236}">
                <ns3:creationId id="{99A550BF-D339-4F26-928F-99CF1DF4FCAC}"/>
              </a:ext>
            </a:extLst>
          </p:cNvPr>
          <p:cNvSpPr>
            <a:spLocks noGrp="1"/>
          </p:cNvSpPr>
          <p:nvPr/>
        </p:nvSpPr>
        <p:spPr>
          <a:xfrm>
            <a:off x="11182350" y="64960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13" b="0">
                <a:solidFill>
                  <a:srgbClr val="78929A"/>
                </a:solidFill>
                <a:latin typeface="Aptos Mono"/>
                <a:ea typeface="Aptos Mono"/>
                <a:cs typeface="Aptos Mono"/>
              </a:defRPr>
            </a:pPr>
            <a:r>
              <a:rPr sz="713" b="0">
                <a:solidFill>
                  <a:srgbClr val="78929A"/>
                </a:solidFill>
                <a:latin typeface="Aptos Mono"/>
                <a:ea typeface="Aptos Mono"/>
                <a:cs typeface="Aptos Mono"/>
              </a:rPr>
              <a:t>10</a:t>
            </a:r>
          </a:p>
        </p:txBody>
      </p:sp>
    </p:spTree>
    <p:extLst>
      <p:ext uri="{BB962C8B-B14F-4D97-AF65-F5344CB8AC3E}">
        <ns4:creationId val="1761882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2026-05-28T11:53:06.8950000Z</dcterms:created>
  <dcterms:modified xsi:type="dcterms:W3CDTF">2026-05-28T11:53:06.8950000Z</dcterms:modified>
</coreProperties>
</file>